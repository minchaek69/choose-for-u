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28"/>
    <p:sldId id="265" r:id="rId10"/>
    <p:sldId id="266" r:id="rId11"/>
    <p:sldId id="267" r:id="rId12"/>
    <p:sldId id="268" r:id="rId13"/>
    <p:sldId id="269" r:id="rId14"/>
    <p:sldId id="270" r:id="rId15"/>
    <p:sldId id="279" r:id="rId29"/>
    <p:sldId id="280" r:id="rId30"/>
    <p:sldId id="271" r:id="rId16"/>
    <p:sldId id="272" r:id="rId17"/>
    <p:sldId id="273" r:id="rId18"/>
    <p:sldId id="274" r:id="rId19"/>
    <p:sldId id="275" r:id="rId20"/>
    <p:sldId id="276" r:id="rId21"/>
    <p:sldId id="281" r:id="rId3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50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시간 없음(목차와 함께 바로 넘긴다) · 발표 15(6분 준수)
【이 장에서 말할 것】
"○○ 앱 v2, ○○하는 앱을 기획하고 Flutter로 화면을 만든 ○○○입니다." — 앱 이름 v2와 부제를 그대로 읽고 바로 다음 장으로.
【채우는 요령】
- 앱 이름 v2 · 부제는 README "앱 소개"의 앱 이름 · 부제와 같은 글자로 쓴다. 발표자 칸에는 내 이름 한 칸만.
- 오른쪽 대표 화면 자리는 선택이다. 쓰지 않으면 점선 상자를 지운다.
- 회색 안내 글은 발표 전에 모두 지운다.
【기준】 중간고사_안내.md 4장 8단계(발표 6분 + 질의 2분) · 7장 발표 15.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시간 없음(한 문장만) · 발표 15(6분 준수)
【이 장에서 말할 것】
"프로젝트 개요 → 문제 정의 → 해결 방법 → 셀프 논증 → Flutter 구현 → 데모 → 배운 점 순서로 6분 말씀드리고, 근거는 Q&amp;A 때 부록에서 보여 드리겠습니다." 표는 읽지 않는다.
【채우는 요령】
- 시간 열은 권장 배분이다(본문 합 6:00 — 개요 0:45 · 문제 정의 1:00 · 해결 방법 1:00 · 셀프 논증 1:00 · Flutter 0:45 · 데모 1:15 · Personal Learnings 0:15). 바꿔도 되지만 합계 6분은 지킨다. Q&amp;A는 2분.
- 리허설 칸에 실제로 걸린 시간을 적어 본다. 넘친 장은 부록으로 옮긴다.
- 연결 배점 열은 안내문 7장 배점(기획 40 · 셀프 논증 기록 20 · UI 구현 25 · 발표 15)을 어느 장에서 보여 주는지 표시한 것이다 — 새 점수 규칙이 아니다.
- 장을 지우거나 복제했다면 장 번호 열도 고친다.
【기준】 안내문 4장 8단계 · 7장 평가(배점 그대로).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0:25 (개요 2장 합 0:45) · 기획 40(사업 요약)
【이 장에서 말할 것】
청중이 처음 보는 앱이라도 10초 안에 알도록 앱스토어 상품 페이지처럼 소개한다.
1. 앱 이름 · 부제 — "○○은 ○○하는 앱입니다."
2. 카테고리와 대상 사용자 / 사용 상황 — 누가 언제 쓰는가.
3. 설명 3줄 — 무엇을 하는가 · v2가 해결하는 문제 · v2의 핵심 가치.
4. 평가 및 리뷰 — 현행 별점 · 리뷰 수 · 대표 리뷰 1개. "자세한 분석은 문제 정의에서" 하고 넘긴다.
【채우는 요령】
- 칸 이름은 README "앱 소개" 8칸(앱 이름 · 부제 · 카테고리 · 대상 사용자 / 사용 상황 · 스크린샷 · 설명 · 새로운 기능 · 평가 및 리뷰)과 같다. README와 같은 글을 쓴다.
- 영문 요소 이름과 글자 제한은 Apple Developer "App Store product page" 문서에서 확인한 것만 적었다: App name 최대 30자 · Subtitle 최대 30자 · Category(기본 · 보조) · Description · Ratings and Reviews.
- 별점 · 리뷰 수 · 대표 리뷰는 05장(문제 정의 1/2)과 같은 숫자 · 같은 리뷰를 쓴다. 작성자 이름은 지운다.
- 아이콘 · 스크린샷 등 실제 앱 캡처는 수업 목적 인용이다 — 출처 칸에 스토어 링크와 확인한 날짜를 꼭 적는다.
【기준】 README "앱 소개" · Apple Developer "App Store product page" 문서(developer.apple.com/app-store/product-page) · 안내문 4장 1 · 2단계.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0:20 (개요 2장 합 0:45) · 기획 40
【이 장에서 말할 것】
1. 왼쪽 v1 현행 → 오른쪽 v2 화면 — "지금은 이렇고, v2에서는 이렇게 바뀝니다."
2. 새로운 기능 3개 — P번호와 함께 한 줄씩. "왜 바꿨는지는 다음 문제 정의에서" 하고 넘긴다.
【채우는 요령】
- 스크린샷은 README와 같은 다섯 칸(v1 현행 · v2 화면 A · B · C · v2 넓은 화면) 중 3~5칸. 남는 칸은 지운다.
- 새로운 기능 표는 README "새로운 기능"과 같은 열(P번호 · 바뀐 것(화면 · 요소 번호) · 근거(리뷰 · 원칙)). P번호는 부록 B2 원칙 카드와 같게.
- App Store의 What's New 자리를 빌린 것이다. Apple 문서 기준 스크린샷은 최대 10장이지만 발표에는 3~5칸이면 충분하다.
- v2 화면은 UI만 — 로그인 · 결제 · 저장 같은 실제 동작을 "새 기능"으로 보여 주지 않는다(감점 항목).
【기준】 README "앱 소개" · Apple "App Store product page"(Screenshots · What's New) · 안내문 4장 5단계 · 5장 허용/감점.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0:30 (문제 정의 2장 합 1:00) · 기획 40(현행 분석 · 리뷰 근거 10)
【이 장에서 말할 것】
1. 별점 분포 — 낮은 별점이 어디에 몰렸는지 한 문장.
2. 리뷰 인용 2–3개 — 원문 그대로, 날짜와 별점을 함께.
3. 리뷰 4유형 — 가장 많은 유형 하나를 짚는다.
4. 잘된 점 — 닐슨 원칙 번호로 하나. "잘된 점은 v2에서도 지킨다."
【채우는 요령】
- 제목 회색 부분은 "리뷰가 말해 주는 핵심 문제" 한 문장으로 바꾼다.
- 별점 분포는 표 대신 스토어 캡처를 넣어도 된다.
- 리뷰 번호(#1, #2 …)는 저니 · 원칙 카드 · 개요의 대표 리뷰에서 같은 번호로 쓴다. 작성자 이름은 지운다.
【기준】 안내문 4장 1단계 · 8장 FAQ(리뷰 인용) · 7장 기획 "현행 분석 · 리뷰 근거 10".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0:30 (문제 정의 2장 합 1:00) · 기획 40(저니 8 · 피쉬본 · 5 Why 5)
【이 장에서 말할 것】
1. 저니 — 목표에서 출발해 감정 최저점이 어느 단계인지, 왜인지(리뷰 #).
2. 피쉬본 여섯 시각은 한 번에 훑고, 고른 문제 하나만 말한다.
3. 5 Why를 빠르게 내려가 근본 원인 한 문장에서 멈춘다 → "그래서 v2에서는 이것을 고칩니다"로 해결 방법 장에 넘긴다.
【채우는 요령】
- 저니 · 피쉬본 그림은 부록 B5-2 · B5-3(전체)에서 요약해 점선 상자 자리에 넣는다.
- 감정 최저점 칸에 확장 4줄 중 "어긴 원칙"을 함께 쓴다(사용 기기 · AI 활용 기회 · 필요한 데이터는 부록 B5-2에).
- 5 Why의 마지막은 증상이 아니라 원인이어야 한다.
【기준】 안내문 4장 3 · 4단계 · 7장 기획.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1:00 · 기획 40(요소 분석 · 정보 전달 기준 · 디자인 가이드 글 8 · 상태관리 포인트 명시 4)
【이 장에서 말할 것】
1. v2 화면 흐름 — 첫 화면에서 목표까지 몇 단계인지.
2. 대표 화면 하나 — 캡처의 요소 번호를 짚으며 "번호 · Flutter 위젯명 · 비즈니스 명칭 · P번호"를 2–3개.
3. 정보 전달 기준 — 무엇을 먼저, 무엇을 강조하는지.
4. 디자인 가이드 글 — 정의한 명칭 그대로 목적 · 내용 · 의도 한 문장.
5. 상태관리 포인트 — 어떤 데이터가 바뀌면 어느 위젯에 보이는지. "표시만 했고 구현하지 않았다"고 분명히 말한다.
【채우는 요령】
- 나머지 화면은 부록 B1(참조: 데모 및 스크린샷)에 둔다.
- 비즈니스 명칭은 가이드 글 · 코드 주석 · 셀프 논증 기록에서 글자 하나 다르지 않게 같은 이름을 쓴다(명칭 일관).
- 상태관리 포인트는 코드에 // STATE: 주석으로만. Provider · Riverpod · Bloc 구현은 감점이다.
【기준】 안내문 4장 5단계 · 5장 감점 · 7장 기획.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1:00 · 셀프 논증 기록 20
【이 장에서 말할 것】
1. 대표 쟁점 하나 — 무엇을 정해야 했는지.
2. 내 주장 — 처음 고른 설계와 이유.
3. 반론 — AI를 반론자로 세워 받은 반론(예: "이 화면 설계의 약점을 닐슨 원칙으로 반박해 줘")과 스스로 찾은 반론.
4. 재반론 / 수정 → 결론(유지 · 수정 · 폐기) — 반론을 이긴 이유, 또는 받아들여 고친 것.
5. 근거 P번호 · 리뷰 # 와 전 · 후 화면("취향"이 아니라 원칙과 리뷰로 결론 냈다).
【채우는 요령】
- 셀프 논증 구조(Toulmin 논증 모형 — 주장 · 근거 · 보증 · 반론): 쟁점 → 내 주장 → 반론(AI · 나) → 재반론/수정 → 결론 → 근거 P번호 → 전 · 후. 저장소 docs/셀프논증.md와 같은 내용.
- 반론 없이 내 주장만 있으면 논증이 아니다. AI 반론을 그대로 받아들이기만 해도 안 된다 — 왜 · 어디까지 맞는지 재반론을 쓴다.
- 결론이 "유지"여도 된다. 반론을 이긴 이유를 말하고, 전 · 후 칸에는 최종 화면을 넣는다.
- 증거는 부록 B3 prompt-log(AI에게 반론을 요청한 행)와 B2 원칙 카드(같은 P번호), 코드 // P0x.
- 표의 둘째 줄은 쟁점이 더 있을 때 쓴다. 발표에서는 대표 쟁점 하나만 말한다.
【질의 대비】 "AI 반론 중 받아들이지 않은 것은?" → 재반론 칸과 prompt-log 행으로 답한다.
【기준】 안내문 4장 7단계 · 7장 셀프 논증 기록 20 · 8장 FAQ(AI 반론은 어떻게 받나).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1:15 · UI 구현 25 · 발표 15(데모)
【이 장에서 말할 것】
1. 1분 데모 영상 또는 라이브/배포 URL로 화면을 보여 준다.
2. 장면 이름만 짧게 — "화면 전환", "json-server에서 GET", "오류 상태와 다시 시도", "넓은 화면".
3. 남은 15초에 원칙 클립(p0x.mp4) 1개 — "P09: 오류를 알아보고 복구하게".
【채우는 요령】
- 영상은 삽입 → 비디오 → 이 컴퓨터에서. 넣은 뒤 점선 상자는 지운다. 재생 방식을 정해 두고 리허설에서 확인한다.
- 라이브를 하더라도 영상을 넣어 둔다 — 막히면 바로 영상으로.
- 표의 장면 · 영상 시간 칸에 몇 초에 무엇이 나오는지 적어 두면 Q&amp;A 때 바로 돌아갈 수 있다.
- Vercel 배포 URL은 가산점(+5).
【기준】 안내문 4장 6단계 · 6장 제출물 ①(README의 데모 영상 1분 또는 배포 URL) · 7장 UI 구현 25 · 발표 15.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0:15 · 발표 15
【이 장에서 말할 것】
세 칸에서 짧게 한 문장씩(15초) — 배운 것 · 셀프 논증 회고 · 다음 v3. 마지막 문장은 "질문 받겠습니다."
【채우는 요령】
- 배운 것: UX/UI 기획 · 원칙 · Flutter 중 가장 크게 배운 하나.
- 셀프 논증 회고: AI 반론으로 유지 · 수정 · 폐기한 결정 중 기억에 남는 하나와 그 이유(prompt-log 몇 번째 행).
- 다음 v3: 이번에 못 한 것 · 다음에 고칠 것. 상태관리처럼 이번 범위 밖이던 것도 여기에 쓸 수 있다.
- 칸마다 한 줄이면 충분하다. 15초를 넘기지 않는다.
【기준】 안내문 7장 발표 15 · 8장 FAQ.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2:00 · 발표 15(질의 응답)
【이 장에서 말할 것】
"질문 받겠습니다." 질문을 듣고 해당 부록 장으로 바로 이동해 근거로 답한다.
- 화면 · 상태 화면 → B1 참조: 데모 및 스크린샷
- 원칙 · 위젯 선택 이유 → B2 원칙 카드
- AI를 어떻게 썼는가 → B3 prompt-log
- 기획 근거(사업 요약 · 저니 · 근본 원인 · 요소 분석 · 상태관리) → B5 기획 상세
【채우는 요령】
- 예상 질문 2개와 답할 근거(부록 장 · P번호 · 리뷰 #)를 미리 적어 두고 리허설에서 답해 본다. 발표 때 이 칸은 지우거나 그대로 둔다.
- PowerPoint 슬라이드 쇼에서 장 번호를 누르고 Enter를 치면 그 장으로 간다.
【기준】 안내문 4장 8단계(질의 2분) · 7장 발표 15.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본문 6분에는 넘기지 않는다 — Q&amp;A 때만
【이 장에서 말할 것】
발표 중에는 말하지 않는다. 질문에 맞는 부록 장으로 바로 간다.
【채우는 요령】
- 이 구분 장은 그대로 둔다. 쓰지 않는 부록 장은 지우고, 모자라면 복제한다(B2 원칙 카드는 P0x마다 1장).
- B4 자가평가 요약은 제출 전 점검용 — 발표 때 지워도 된다.
- B5 기획 상세(사업 요약 · 저니 · 피쉬본/5 Why · 화면별 요소 분석표 · 상태관리 포인트)는 지우지 않는다 — 제출물 ② 발표자료에서 기획 40점의 근거가 되는 장이다(기획 문서 PDF를 따로 내지 않는다).
【기준】 7주차 덱 부록 A2 · 40장 "발표 두 층".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UI 구현 25 근거
【이 장에서 말할 것】
"다른 화면은요?", "오류가 나면 어떻게 보이나요?"에 이 장을 펼쳐 해당 캡처를 가리킨다.
【채우는 요령】
- 위 줄: 본문에 다 못 보인 화면 전체 캡처(요소 번호 표시) — 화면 이름 · 파일은 README 3장 화면 목록과 같게. 넓은 화면 캡처도 하나.
- 아래 줄: 로딩 · 오류 · 빈 상태 캡처 — FutureBuilder 3상태의 증거.
- 영상 · 링크 칸: 데모 1분 · 원칙 클립 p0x.mp4 · 저장소 URL.
- 칸이 모자라면 이 장을 복제한다. 디자인 가이드에 없는 화면은 만들지 않는다(감점).
【기준】 안내문 4장 6단계 · 5장 감점 · 6장 제출물 ①.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기획 40(원칙 사용) · 셀프 논증 기록 20 근거
【이 장에서 말할 것】
질문받은 원칙의 다섯 칸을 순서대로 — 원칙 → 근거(리뷰 · 캡처) → 적용(화면 · 요소 번호 · 위젯명 · 비즈니스 명칭) → 시연(클립) → 판단(버린 대안과 이유).
【채우는 요령】
- 이 장을 복제해 고친 원칙마다 1장(P0x). P번호 = 닐슨 원칙 번호. 코드 주석(// P09) · 클립(p09.mp4) · 개요의 새로운 기능 · 셀프 논증 근거에 같은 번호를 쓴다.
- 판단 칸에는 AI 반론으로 검토했지만 고르지 않은 대안도 쓸 수 있다 — 셀프 논증 장의 결론과 같은 번호로 잇는다.
- 현행 앱이 이미 잘 지킨 원칙은 "해당 없음" 카드로 근거만 남겨도 된다(점수 규칙 아님).
【기준】 안내문 4장 1 · 5 · 7단계 · 7주차 덱 9장 · 부록 A4.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셀프 논증 기록 20 증거
【이 장에서 말할 것】
"AI를 어떻게 썼나요?"에 한두 행으로 — 요청 → AI 결과 → 내 판단(수용/수정/폐기) → 이유.
【채우는 요령】
- AI에게 맡긴 일마다 한 행. 저장소 docs/prompt-log.md와 같은 내용.
- 이유 칸에는 안내문 · 원칙 · 리뷰 근거. 예: AI가 provider를 넣었다 → 상태관리 구현은 감점(안내문 5장) → 지우고 setState만(수정).
- AI가 넣은 실제 동작(저장 · 로그인 등)을 지웠다면 "폐기"로 남긴다(안내문 8장 FAQ).
- 본문 셀프 논증 장에서 인용한 반론 요청(예: "이 화면 설계의 약점을 닐슨 원칙으로 반박해 줘")은 이 표의 몇 번째 행인지 적어 둔다.
【기준】 안내문 8장 FAQ · 5장 허용/감점 · 7주차 덱 35장 · 부록 A5.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발표에서 쓰지 않는다 — 제출 전(10/29(목) 15:00 전) 스스로 채우는 점검 장
【채우는 요령】
- 배점은 안내문 7장 그대로다(셀프 논증 기록 20). 줄마다 근거 위치에 이 발표 자료의 장 번호(부록 B5 포함) · 저장소 경로를 적는다.
- 근거 위치가 빈 줄이 제출 전에 채울 일이다.
- 감점 항목이 하나도 없는지 확인한다.
- 자가 점수는 개인 점검용이다. 실제 점수는 강사가 매긴다 — 새 점수 규칙이 아니다.
【기준】 안내문 5장 · 7장 · 7주차 덱 41장 · 부록 A3.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기획 40(사업 요약 5)
【이 장에서 말할 것】
"이 앱을 누구를 위해 왜 고치나요?"라는 질문에 답하는 장. 목표 → 퍼소나 → 해결할 문제 → v2 핵심 가치 순서로 한 문장씩.
【채우는 요령】
- 제출물 ② 발표자료가 기획 문서를 대신한다(2026-10-15 변경: 제출물 2종). 기획 1–5단계는 본문 + 부록 B5에 담는다 — 이 장은 지우지 않는다.
- 본문 03장 개요(앱 소개 8칸)와 같은 말을 쓴다. 목표는 숫자로 잴 수 있게(예: 탭 수 · 시간).
- 해결할 문제는 B5-3 근본 원인과 같은 문제여야 한다.
【기준】 안내문 4장 2단계 · 7장 기획 "사업 요약 5".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기획 40(저니 8)
【이 장에서 말할 것】
목표에서 출발해 단계별로 리뷰 근거와 감정을 짚고, 감정 최저점 단계와 그 이유(리뷰 # · 어긴 원칙)를 말한다.
【채우는 요령】
- 본문 06장은 요약, 이 장이 저니 전체다. 단계 이름은 사용자 행동으로 쓴다(예: 검색 → 비교 → 주문).
- 주황 줄 4개가 확장 4줄(사용 기기 · AI 활용 기회 · 어긴 원칙 · 필요한 데이터)이다. 필요한 데이터는 json-server GET 필드와 맞춘다.
- 감정 곡선 그림을 쓰려면 이 장을 복제해 그림을 넣고, 표는 지우지 않는다.
【기준】 안내문 4장 3단계 · 7장 기획 "저니 8".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기획 40(피쉬본 · 5 Why 5)
【이 장에서 말할 것】
피쉬본 머리(저니 감정 최저점 문제) → 여섯 시각 중 고른 우선순위 1개와 이유 → 5 Why → 근본 원인 → v2에서 고칠 화면 · 요소 번호.
【채우는 요령】
- 여섯 시각: 모바일 UX · 사용성 · 데이터 · API · 네트워크 · 프로세스. 칸마다 리뷰 #나 저니 단계를 근거로 단다.
- 5 Why의 마지막은 증상이 아니라 원인이어야 한다. UI로 고칠 수 있는 원인을 고른다(실제 로직 구현은 감점).
- 피쉬본 그림을 쓰면 장을 복제해 넣는다.
【기준】 안내문 4장 4단계 · 7장 기획 "피쉬본 · 5 Why 5".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기획 40(요소 분석 · 정보 전달 기준 · 가이드 글 8) · UI 25(기획과 일치)
【이 장에서 말할 것】
질문받은 화면의 요소를 번호로 짚는다 — Flutter 위젯명 · 비즈니스 명칭 · 정보 전달 기준 · 원칙 P번호 · 편의성 · 가이드 글.
【채우는 요령】
- 화면마다 이 장을 복제한다(슬라이드 목록에서 우클릭 → 슬라이드 복제). 제목의 화면 번호 · 이름을 바꾼다.
- 번호(A-1 …)는 캡처의 번호 · 코드 주석(// A-1 P09)과 같게, 비즈니스 명칭은 디자인 가이드 · README 화면 목록과 같게 쓴다.
- 행이 모자라면 장을 하나 더 복제해 A-8부터 이어 쓴다. 가이드에 없는 화면은 감점이다.
【기준】 안내문 4장 5단계 · 5장 감점(가이드에 없는 화면) · 7장 기획.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【시간 · 연결 배점】 Q&amp;A 때만 · 기획 40(상태관리 포인트 4)
【이 장에서 말할 것】
"어떤 데이터가 바뀌고, 어느 위젯이 그것을 보여 주는가"를 S번호로 짚는다. 구현은 하지 않았다는 것을 분명히 말한다.
【채우는 요령】
- 바뀌는 데이터 · 언제 바뀌나(사용자 행동) · 보여질 위젯(요소 번호, B5-4와 같게) · 코드 표시 위치(// STATE: S1).
- Provider · Riverpod · Bloc 등 상태관리 구현, 영구 저장은 감점이다 — 표시만 한다.
- 이 표가 13주 상태관리 수업의 구현 목록이 된다.
【기준】 안내문 4장 5단계 · 5장 감점 · 7장 기획 "상태관리 포인트 4".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3721" y="304800"/>
            <a:ext cx="1482328" cy="200025"/>
          </a:xfrm>
          <a:prstGeom prst="roundRect">
            <a:avLst>
              <a:gd name="adj" fmla="val 63492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0672" y="342900"/>
            <a:ext cx="125299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· 발표 15 (6분 준수)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응용모바일프로그래밍 · 중간고사 발표 · 2026-10-29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1492002"/>
            <a:ext cx="478792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B7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이름 v2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507950" y="1653927"/>
            <a:ext cx="4694039" cy="9651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3A4A63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3000" b="1">
                <a:solidFill>
                  <a:srgbClr val="16202E"/>
                </a:solidFill>
                <a:latin typeface="Arial"/>
              </a:rPr>
              <a:t>골라줘 v2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7950" y="2771477"/>
            <a:ext cx="478792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B7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부제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07950" y="2933402"/>
            <a:ext cx="4694039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9525">
            <a:solidFill>
              <a:srgbClr val="3A4A63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1500" b="0">
                <a:solidFill>
                  <a:srgbClr val="16202E"/>
                </a:solidFill>
                <a:latin typeface="Arial"/>
              </a:rPr>
              <a:t>고민을 게임으로, 탭 3번에 결정 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950" y="3593753"/>
            <a:ext cx="478792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B7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07950" y="3755678"/>
            <a:ext cx="4694039" cy="355550"/>
          </a:xfrm>
          <a:prstGeom prst="roundRect">
            <a:avLst>
              <a:gd name="adj" fmla="val 14288"/>
            </a:avLst>
          </a:prstGeom>
          <a:solidFill>
            <a:srgbClr val="FFFFFF"/>
          </a:solidFill>
          <a:ln w="9525">
            <a:solidFill>
              <a:srgbClr val="3A4A63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1200" b="0">
                <a:solidFill>
                  <a:srgbClr val="16202E"/>
                </a:solidFill>
                <a:latin typeface="Arial"/>
              </a:rPr>
              <a:t>왕민채 (WANG MINCAI) · 2024106071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06789" y="1487686"/>
            <a:ext cx="3129260" cy="2412950"/>
          </a:xfrm>
          <a:prstGeom prst="roundRect">
            <a:avLst>
              <a:gd name="adj" fmla="val 7369"/>
            </a:avLst>
          </a:prstGeom>
          <a:solidFill>
            <a:srgbClr val="111827"/>
          </a:solidFill>
          <a:ln w="9525">
            <a:solidFill>
              <a:srgbClr val="3A4A6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6789" y="3976836"/>
            <a:ext cx="3191845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6분 + Q&amp;A 2분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507950" y="4810125"/>
            <a:ext cx="341757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4장 8단계 · 7주차 덱 부록 A2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80" dirty="0"/>
          </a:p>
        </p:txBody>
      </p:sp>
      <p:pic>
        <p:nvPicPr>
          <p:cNvPr id="20" name="Picture 19" descr="05_C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826" y="1524262"/>
            <a:ext cx="1081186" cy="23397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3721" y="304800"/>
            <a:ext cx="1482328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0672" y="342900"/>
            <a:ext cx="125299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· 발표 15 (6분 준수)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목차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목차: </a:t>
            </a:r>
            <a:r>
              <a:rPr lang="en-US" sz="1900" b="1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6분 + Q&amp;A 2분 — 부록은 질의 때만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4317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079" y="1163687"/>
            <a:ext cx="85162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930176" y="1128861"/>
            <a:ext cx="2286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7538" y="1163687"/>
            <a:ext cx="54801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49251" y="1128861"/>
            <a:ext cx="14223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22177" y="1163687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562076" y="1128861"/>
            <a:ext cx="2369046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35002" y="1163687"/>
            <a:ext cx="395299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보여 줄 것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4921597" y="1128861"/>
            <a:ext cx="4063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1255" y="1163687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5318373" y="1128861"/>
            <a:ext cx="9144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91299" y="1163687"/>
            <a:ext cx="36797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배점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223248" y="1128861"/>
            <a:ext cx="5587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96174" y="1163687"/>
            <a:ext cx="255487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리허설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07950" y="1314450"/>
            <a:ext cx="4317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4340" y="1411784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30176" y="1314450"/>
            <a:ext cx="2286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18282" y="1408509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149251" y="1314450"/>
            <a:ext cx="14223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22177" y="1408509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2562076" y="1314450"/>
            <a:ext cx="2369046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35002" y="1411784"/>
            <a:ext cx="93967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이름 v2 · 부제 · 발표자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21597" y="1314450"/>
            <a:ext cx="406301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77718" y="1408509"/>
            <a:ext cx="9594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5318373" y="1314450"/>
            <a:ext cx="9144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91299" y="1411784"/>
            <a:ext cx="9077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23248" y="1314450"/>
            <a:ext cx="558701" cy="3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950" y="1615083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4340" y="1712416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30176" y="1615083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18282" y="1709142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1149251" y="1615083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222177" y="1709142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2562076" y="1615083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635002" y="1712416"/>
            <a:ext cx="144320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장 — 순서와 시간만 보여 주고 넘긴다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921597" y="1615083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077718" y="1709142"/>
            <a:ext cx="9594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318373" y="1615083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391299" y="1712416"/>
            <a:ext cx="9077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23248" y="1615083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7950" y="1915864"/>
            <a:ext cx="4317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0224" y="2013198"/>
            <a:ext cx="25214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03–04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30176" y="1915864"/>
            <a:ext cx="2286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18282" y="2009924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1149251" y="1915864"/>
            <a:ext cx="14223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22177" y="2009924"/>
            <a:ext cx="523878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2562076" y="1915864"/>
            <a:ext cx="2369046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635002" y="2013198"/>
            <a:ext cx="217946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앱스토어식 앱 소개 — README "앱 소개" 8칸과 같은 이름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921597" y="1915864"/>
            <a:ext cx="406301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30688" y="2009924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5318373" y="1915864"/>
            <a:ext cx="9144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391299" y="2013198"/>
            <a:ext cx="70725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40 (사업 요약)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23248" y="1915864"/>
            <a:ext cx="558701" cy="3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7950" y="2216497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00224" y="2313831"/>
            <a:ext cx="25214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05–06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930176" y="2216497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018282" y="2310557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1149251" y="2216497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222177" y="2310557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2562076" y="2216497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635002" y="2256086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 · 리뷰 근거(4유형) · 저니 감정 최저점 · 피쉬본/5 Why 근본 원인</a:t>
            </a:r>
            <a:endParaRPr lang="en-US" sz="670" dirty="0"/>
          </a:p>
        </p:txBody>
      </p:sp>
      <p:sp>
        <p:nvSpPr>
          <p:cNvPr id="68" name="Text 66"/>
          <p:cNvSpPr/>
          <p:nvPr/>
        </p:nvSpPr>
        <p:spPr>
          <a:xfrm>
            <a:off x="4921597" y="2216497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030688" y="2310557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5318373" y="2216497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391299" y="2313831"/>
            <a:ext cx="28296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40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223248" y="2216497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07950" y="2517279"/>
            <a:ext cx="4317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74340" y="2614613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930176" y="2517279"/>
            <a:ext cx="2286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18282" y="2611338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1149251" y="2517279"/>
            <a:ext cx="14223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222177" y="2611338"/>
            <a:ext cx="95500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 — UX/UI 기획</a:t>
            </a:r>
            <a:endParaRPr lang="en-US" sz="740" dirty="0"/>
          </a:p>
        </p:txBody>
      </p:sp>
      <p:sp>
        <p:nvSpPr>
          <p:cNvPr id="79" name="Text 77"/>
          <p:cNvSpPr/>
          <p:nvPr/>
        </p:nvSpPr>
        <p:spPr>
          <a:xfrm>
            <a:off x="2562076" y="2517279"/>
            <a:ext cx="2369046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2635002" y="2556867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기획(요소 명칭) · 원칙 카드 P번호 · 가이드 글 · 정보 전달 기준 · 상태관리 포인트</a:t>
            </a:r>
            <a:endParaRPr lang="en-US" sz="670" dirty="0"/>
          </a:p>
        </p:txBody>
      </p:sp>
      <p:sp>
        <p:nvSpPr>
          <p:cNvPr id="81" name="Text 79"/>
          <p:cNvSpPr/>
          <p:nvPr/>
        </p:nvSpPr>
        <p:spPr>
          <a:xfrm>
            <a:off x="4921597" y="2517279"/>
            <a:ext cx="406301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030688" y="2611338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5318373" y="2517279"/>
            <a:ext cx="9144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5391299" y="2614613"/>
            <a:ext cx="28296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40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223248" y="2517279"/>
            <a:ext cx="558701" cy="3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07950" y="2817912"/>
            <a:ext cx="43175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74340" y="2917031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930176" y="2817912"/>
            <a:ext cx="22860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018282" y="2913757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1149251" y="2817912"/>
            <a:ext cx="142235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222177" y="2852738"/>
            <a:ext cx="1276499" cy="24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1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 — AI 반론으로 다진 UX/UI 결정</a:t>
            </a:r>
            <a:endParaRPr lang="en-US" sz="710" dirty="0"/>
          </a:p>
        </p:txBody>
      </p:sp>
      <p:sp>
        <p:nvSpPr>
          <p:cNvPr id="92" name="Text 90"/>
          <p:cNvSpPr/>
          <p:nvPr/>
        </p:nvSpPr>
        <p:spPr>
          <a:xfrm>
            <a:off x="2562076" y="2817912"/>
            <a:ext cx="2369046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2635002" y="2859286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쟁점 → 내 주장 → 반론(AI · 나) → 재반론/수정 → 결론 → 근거 P번호 → 전 · 후</a:t>
            </a:r>
            <a:endParaRPr lang="en-US" sz="670" dirty="0"/>
          </a:p>
        </p:txBody>
      </p:sp>
      <p:sp>
        <p:nvSpPr>
          <p:cNvPr id="94" name="Text 92"/>
          <p:cNvSpPr/>
          <p:nvPr/>
        </p:nvSpPr>
        <p:spPr>
          <a:xfrm>
            <a:off x="4921597" y="2817912"/>
            <a:ext cx="406301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030688" y="2913757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740" dirty="0"/>
          </a:p>
        </p:txBody>
      </p:sp>
      <p:sp>
        <p:nvSpPr>
          <p:cNvPr id="96" name="Text 94"/>
          <p:cNvSpPr/>
          <p:nvPr/>
        </p:nvSpPr>
        <p:spPr>
          <a:xfrm>
            <a:off x="5318373" y="2817912"/>
            <a:ext cx="91440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391299" y="2917031"/>
            <a:ext cx="64684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 기록 20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6223248" y="2817912"/>
            <a:ext cx="558701" cy="31373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07950" y="3122116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674340" y="3219450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930176" y="3122116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1018282" y="3216176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1149251" y="3122116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1222177" y="3216176"/>
            <a:ext cx="123310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기술을 활용한 기능 설명</a:t>
            </a:r>
            <a:endParaRPr lang="en-US" sz="740" dirty="0"/>
          </a:p>
        </p:txBody>
      </p:sp>
      <p:sp>
        <p:nvSpPr>
          <p:cNvPr id="105" name="Text 103"/>
          <p:cNvSpPr/>
          <p:nvPr/>
        </p:nvSpPr>
        <p:spPr>
          <a:xfrm>
            <a:off x="2562076" y="3122116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2635002" y="3161705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트리 · 화면 이동 · FutureBuilder 3상태 · GET · 적응형 · // P0x</a:t>
            </a:r>
            <a:endParaRPr lang="en-US" sz="670" dirty="0"/>
          </a:p>
        </p:txBody>
      </p:sp>
      <p:sp>
        <p:nvSpPr>
          <p:cNvPr id="107" name="Text 105"/>
          <p:cNvSpPr/>
          <p:nvPr/>
        </p:nvSpPr>
        <p:spPr>
          <a:xfrm>
            <a:off x="4921597" y="3122116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5030688" y="3216176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</a:t>
            </a:r>
            <a:endParaRPr lang="en-US" sz="740" dirty="0"/>
          </a:p>
        </p:txBody>
      </p:sp>
      <p:sp>
        <p:nvSpPr>
          <p:cNvPr id="109" name="Text 107"/>
          <p:cNvSpPr/>
          <p:nvPr/>
        </p:nvSpPr>
        <p:spPr>
          <a:xfrm>
            <a:off x="5318373" y="3122116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5391299" y="3219450"/>
            <a:ext cx="21677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25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6223248" y="3122116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507950" y="3422898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674340" y="3520232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930176" y="3422898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1018282" y="3516957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40" dirty="0"/>
          </a:p>
        </p:txBody>
      </p:sp>
      <p:sp>
        <p:nvSpPr>
          <p:cNvPr id="116" name="Text 114"/>
          <p:cNvSpPr/>
          <p:nvPr/>
        </p:nvSpPr>
        <p:spPr>
          <a:xfrm>
            <a:off x="1149251" y="3422898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15"/>
          <p:cNvSpPr/>
          <p:nvPr/>
        </p:nvSpPr>
        <p:spPr>
          <a:xfrm>
            <a:off x="1222177" y="3516957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740" dirty="0"/>
          </a:p>
        </p:txBody>
      </p:sp>
      <p:sp>
        <p:nvSpPr>
          <p:cNvPr id="118" name="Text 116"/>
          <p:cNvSpPr/>
          <p:nvPr/>
        </p:nvSpPr>
        <p:spPr>
          <a:xfrm>
            <a:off x="2562076" y="3422898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2635002" y="3520232"/>
            <a:ext cx="158727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 영상 또는 라이브/배포 URL + 원칙 클립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921597" y="3422898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19"/>
          <p:cNvSpPr/>
          <p:nvPr/>
        </p:nvSpPr>
        <p:spPr>
          <a:xfrm>
            <a:off x="5030688" y="3516957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1:15</a:t>
            </a:r>
            <a:endParaRPr lang="en-US" sz="740" dirty="0"/>
          </a:p>
        </p:txBody>
      </p:sp>
      <p:sp>
        <p:nvSpPr>
          <p:cNvPr id="122" name="Text 120"/>
          <p:cNvSpPr/>
          <p:nvPr/>
        </p:nvSpPr>
        <p:spPr>
          <a:xfrm>
            <a:off x="5318373" y="3422898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21"/>
          <p:cNvSpPr/>
          <p:nvPr/>
        </p:nvSpPr>
        <p:spPr>
          <a:xfrm>
            <a:off x="5391299" y="3520232"/>
            <a:ext cx="21677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25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6223248" y="3422898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507950" y="3723680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6" name="Text 124"/>
          <p:cNvSpPr/>
          <p:nvPr/>
        </p:nvSpPr>
        <p:spPr>
          <a:xfrm>
            <a:off x="676721" y="3821013"/>
            <a:ext cx="9594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930176" y="3723680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1018282" y="3817739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40" dirty="0"/>
          </a:p>
        </p:txBody>
      </p:sp>
      <p:sp>
        <p:nvSpPr>
          <p:cNvPr id="129" name="Text 127"/>
          <p:cNvSpPr/>
          <p:nvPr/>
        </p:nvSpPr>
        <p:spPr>
          <a:xfrm>
            <a:off x="1149251" y="3723680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28"/>
          <p:cNvSpPr/>
          <p:nvPr/>
        </p:nvSpPr>
        <p:spPr>
          <a:xfrm>
            <a:off x="1222177" y="3817739"/>
            <a:ext cx="889120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Learnings</a:t>
            </a:r>
            <a:endParaRPr lang="en-US" sz="740" dirty="0"/>
          </a:p>
        </p:txBody>
      </p:sp>
      <p:sp>
        <p:nvSpPr>
          <p:cNvPr id="131" name="Text 129"/>
          <p:cNvSpPr/>
          <p:nvPr/>
        </p:nvSpPr>
        <p:spPr>
          <a:xfrm>
            <a:off x="2562076" y="3723680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130"/>
          <p:cNvSpPr/>
          <p:nvPr/>
        </p:nvSpPr>
        <p:spPr>
          <a:xfrm>
            <a:off x="2635002" y="3821013"/>
            <a:ext cx="122521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것 · 셀프 논증 회고 · 다음 v3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921597" y="3723680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4" name="Text 132"/>
          <p:cNvSpPr/>
          <p:nvPr/>
        </p:nvSpPr>
        <p:spPr>
          <a:xfrm>
            <a:off x="5030688" y="3817739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</a:t>
            </a:r>
            <a:endParaRPr lang="en-US" sz="740" dirty="0"/>
          </a:p>
        </p:txBody>
      </p:sp>
      <p:sp>
        <p:nvSpPr>
          <p:cNvPr id="135" name="Text 133"/>
          <p:cNvSpPr/>
          <p:nvPr/>
        </p:nvSpPr>
        <p:spPr>
          <a:xfrm>
            <a:off x="5318373" y="3723680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6" name="Text 134"/>
          <p:cNvSpPr/>
          <p:nvPr/>
        </p:nvSpPr>
        <p:spPr>
          <a:xfrm>
            <a:off x="5391299" y="3821013"/>
            <a:ext cx="28296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15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6223248" y="3723680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507950" y="4024461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37"/>
          <p:cNvSpPr/>
          <p:nvPr/>
        </p:nvSpPr>
        <p:spPr>
          <a:xfrm>
            <a:off x="930176" y="4024461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138"/>
          <p:cNvSpPr/>
          <p:nvPr/>
        </p:nvSpPr>
        <p:spPr>
          <a:xfrm>
            <a:off x="1149251" y="4024461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1" name="Text 139"/>
          <p:cNvSpPr/>
          <p:nvPr/>
        </p:nvSpPr>
        <p:spPr>
          <a:xfrm>
            <a:off x="1222177" y="4118521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합계</a:t>
            </a:r>
            <a:endParaRPr lang="en-US" sz="740" dirty="0"/>
          </a:p>
        </p:txBody>
      </p:sp>
      <p:sp>
        <p:nvSpPr>
          <p:cNvPr id="142" name="Text 140"/>
          <p:cNvSpPr/>
          <p:nvPr/>
        </p:nvSpPr>
        <p:spPr>
          <a:xfrm>
            <a:off x="2562076" y="4024461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41"/>
          <p:cNvSpPr/>
          <p:nvPr/>
        </p:nvSpPr>
        <p:spPr>
          <a:xfrm>
            <a:off x="2635002" y="4121795"/>
            <a:ext cx="67932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6분 준수 (발표 15)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4921597" y="4024461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5" name="Text 143"/>
          <p:cNvSpPr/>
          <p:nvPr/>
        </p:nvSpPr>
        <p:spPr>
          <a:xfrm>
            <a:off x="5030688" y="4118521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</a:t>
            </a:r>
            <a:endParaRPr lang="en-US" sz="740" dirty="0"/>
          </a:p>
        </p:txBody>
      </p:sp>
      <p:sp>
        <p:nvSpPr>
          <p:cNvPr id="146" name="Text 144"/>
          <p:cNvSpPr/>
          <p:nvPr/>
        </p:nvSpPr>
        <p:spPr>
          <a:xfrm>
            <a:off x="5318373" y="4024461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7" name="Text 145"/>
          <p:cNvSpPr/>
          <p:nvPr/>
        </p:nvSpPr>
        <p:spPr>
          <a:xfrm>
            <a:off x="6223248" y="4024461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507950" y="4325243"/>
            <a:ext cx="6273998" cy="310307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147"/>
          <p:cNvSpPr/>
          <p:nvPr/>
        </p:nvSpPr>
        <p:spPr>
          <a:xfrm>
            <a:off x="507950" y="4325243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0" name="Text 148"/>
          <p:cNvSpPr/>
          <p:nvPr/>
        </p:nvSpPr>
        <p:spPr>
          <a:xfrm>
            <a:off x="674340" y="4422577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930176" y="4325243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2" name="Text 150"/>
          <p:cNvSpPr/>
          <p:nvPr/>
        </p:nvSpPr>
        <p:spPr>
          <a:xfrm>
            <a:off x="1018282" y="4419302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40" dirty="0"/>
          </a:p>
        </p:txBody>
      </p:sp>
      <p:sp>
        <p:nvSpPr>
          <p:cNvPr id="153" name="Text 151"/>
          <p:cNvSpPr/>
          <p:nvPr/>
        </p:nvSpPr>
        <p:spPr>
          <a:xfrm>
            <a:off x="1149251" y="4325243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4" name="Text 152"/>
          <p:cNvSpPr/>
          <p:nvPr/>
        </p:nvSpPr>
        <p:spPr>
          <a:xfrm>
            <a:off x="1222177" y="4419302"/>
            <a:ext cx="212982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740" dirty="0"/>
          </a:p>
        </p:txBody>
      </p:sp>
      <p:sp>
        <p:nvSpPr>
          <p:cNvPr id="155" name="Text 153"/>
          <p:cNvSpPr/>
          <p:nvPr/>
        </p:nvSpPr>
        <p:spPr>
          <a:xfrm>
            <a:off x="2562076" y="4325243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6" name="Text 154"/>
          <p:cNvSpPr/>
          <p:nvPr/>
        </p:nvSpPr>
        <p:spPr>
          <a:xfrm>
            <a:off x="2635002" y="4422577"/>
            <a:ext cx="131159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질문 2개 → 부록 장으로 답한다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4921597" y="4325243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8" name="Text 156"/>
          <p:cNvSpPr/>
          <p:nvPr/>
        </p:nvSpPr>
        <p:spPr>
          <a:xfrm>
            <a:off x="5030688" y="4419302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</a:t>
            </a:r>
            <a:endParaRPr lang="en-US" sz="740" dirty="0"/>
          </a:p>
        </p:txBody>
      </p:sp>
      <p:sp>
        <p:nvSpPr>
          <p:cNvPr id="159" name="Text 157"/>
          <p:cNvSpPr/>
          <p:nvPr/>
        </p:nvSpPr>
        <p:spPr>
          <a:xfrm>
            <a:off x="5318373" y="4325243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0" name="Text 158"/>
          <p:cNvSpPr/>
          <p:nvPr/>
        </p:nvSpPr>
        <p:spPr>
          <a:xfrm>
            <a:off x="5391299" y="4422577"/>
            <a:ext cx="70725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15 (질의 응답)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6223248" y="4325243"/>
            <a:ext cx="5587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2" name="Text 160"/>
          <p:cNvSpPr/>
          <p:nvPr/>
        </p:nvSpPr>
        <p:spPr>
          <a:xfrm>
            <a:off x="6908899" y="1128861"/>
            <a:ext cx="17616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질의 때만</a:t>
            </a:r>
            <a:endParaRPr lang="en-US" sz="840" dirty="0"/>
          </a:p>
        </p:txBody>
      </p:sp>
      <p:sp>
        <p:nvSpPr>
          <p:cNvPr id="163" name="Text 161"/>
          <p:cNvSpPr/>
          <p:nvPr/>
        </p:nvSpPr>
        <p:spPr>
          <a:xfrm>
            <a:off x="6908899" y="1303437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4" name="Shape 162"/>
          <p:cNvSpPr/>
          <p:nvPr/>
        </p:nvSpPr>
        <p:spPr>
          <a:xfrm>
            <a:off x="6908899" y="1308199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8631287" y="1303437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6908899" y="1924496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927949" y="1303437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Text 166"/>
          <p:cNvSpPr/>
          <p:nvPr/>
        </p:nvSpPr>
        <p:spPr>
          <a:xfrm>
            <a:off x="7061299" y="1488728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참조: 데모 및 스크린샷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7061299" y="1625203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화면 · 빈/로딩/오류 상태</a:t>
            </a:r>
            <a:endParaRPr lang="en-US" sz="720" dirty="0"/>
          </a:p>
        </p:txBody>
      </p:sp>
      <p:sp>
        <p:nvSpPr>
          <p:cNvPr id="170" name="Text 168"/>
          <p:cNvSpPr/>
          <p:nvPr/>
        </p:nvSpPr>
        <p:spPr>
          <a:xfrm>
            <a:off x="6908899" y="1980009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1" name="Shape 169"/>
          <p:cNvSpPr/>
          <p:nvPr/>
        </p:nvSpPr>
        <p:spPr>
          <a:xfrm>
            <a:off x="6908899" y="1984772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8631287" y="1980009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908899" y="2601069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6927949" y="1980009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3"/>
          <p:cNvSpPr/>
          <p:nvPr/>
        </p:nvSpPr>
        <p:spPr>
          <a:xfrm>
            <a:off x="7061299" y="2165300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원칙 카드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7061299" y="2301776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P0x마다 1장</a:t>
            </a:r>
            <a:endParaRPr lang="en-US" sz="720" dirty="0"/>
          </a:p>
        </p:txBody>
      </p:sp>
      <p:sp>
        <p:nvSpPr>
          <p:cNvPr id="177" name="Text 175"/>
          <p:cNvSpPr/>
          <p:nvPr/>
        </p:nvSpPr>
        <p:spPr>
          <a:xfrm>
            <a:off x="6908899" y="2656582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8" name="Shape 176"/>
          <p:cNvSpPr/>
          <p:nvPr/>
        </p:nvSpPr>
        <p:spPr>
          <a:xfrm>
            <a:off x="6908899" y="2661345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8631287" y="2656582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6908899" y="3277642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6927949" y="2656582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Text 180"/>
          <p:cNvSpPr/>
          <p:nvPr/>
        </p:nvSpPr>
        <p:spPr>
          <a:xfrm>
            <a:off x="7061299" y="2846636"/>
            <a:ext cx="1479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prompt-log</a:t>
            </a:r>
            <a:endParaRPr lang="en-US" sz="800" dirty="0"/>
          </a:p>
        </p:txBody>
      </p:sp>
      <p:sp>
        <p:nvSpPr>
          <p:cNvPr id="183" name="Text 181"/>
          <p:cNvSpPr/>
          <p:nvPr/>
        </p:nvSpPr>
        <p:spPr>
          <a:xfrm>
            <a:off x="7061299" y="2973586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지문 · 반론 요청</a:t>
            </a:r>
            <a:endParaRPr lang="en-US" sz="720" dirty="0"/>
          </a:p>
        </p:txBody>
      </p:sp>
      <p:sp>
        <p:nvSpPr>
          <p:cNvPr id="184" name="Text 182"/>
          <p:cNvSpPr/>
          <p:nvPr/>
        </p:nvSpPr>
        <p:spPr>
          <a:xfrm>
            <a:off x="6908899" y="3333155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5" name="Shape 183"/>
          <p:cNvSpPr/>
          <p:nvPr/>
        </p:nvSpPr>
        <p:spPr>
          <a:xfrm>
            <a:off x="6908899" y="3337917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631287" y="3333155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6908899" y="3954214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6927949" y="3333155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Text 187"/>
          <p:cNvSpPr/>
          <p:nvPr/>
        </p:nvSpPr>
        <p:spPr>
          <a:xfrm>
            <a:off x="7061299" y="3518446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자가평가 요약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7061299" y="3654921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전 점검</a:t>
            </a:r>
            <a:endParaRPr lang="en-US" sz="720" dirty="0"/>
          </a:p>
        </p:txBody>
      </p:sp>
      <p:sp>
        <p:nvSpPr>
          <p:cNvPr id="191" name="Text 189"/>
          <p:cNvSpPr/>
          <p:nvPr/>
        </p:nvSpPr>
        <p:spPr>
          <a:xfrm>
            <a:off x="6908899" y="4009727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2" name="Shape 190"/>
          <p:cNvSpPr/>
          <p:nvPr/>
        </p:nvSpPr>
        <p:spPr>
          <a:xfrm>
            <a:off x="6908899" y="4014490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8631287" y="4009727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6908899" y="4630787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6927949" y="4009727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Text 194"/>
          <p:cNvSpPr/>
          <p:nvPr/>
        </p:nvSpPr>
        <p:spPr>
          <a:xfrm>
            <a:off x="7061299" y="4135636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기획 상세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7061299" y="4272111"/>
            <a:ext cx="1450925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69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요약 · 저니 · 피쉬본/5 Why · 요소 분석 · 상태관리</a:t>
            </a:r>
            <a:endParaRPr lang="en-US" sz="690" dirty="0"/>
          </a:p>
        </p:txBody>
      </p:sp>
      <p:sp>
        <p:nvSpPr>
          <p:cNvPr id="198" name="Text 196"/>
          <p:cNvSpPr/>
          <p:nvPr/>
        </p:nvSpPr>
        <p:spPr>
          <a:xfrm>
            <a:off x="507950" y="4810125"/>
            <a:ext cx="464173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8단계(발표 6분 + 질의 2분) · 7장 평가(배점 그대로)</a:t>
            </a:r>
            <a:endParaRPr lang="en-US" sz="680" dirty="0"/>
          </a:p>
        </p:txBody>
      </p:sp>
      <p:sp>
        <p:nvSpPr>
          <p:cNvPr id="199" name="Text 197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프로젝트 개요 1/2 — 앱스토어 상품 페이지처럼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고르면 게임으로, 탭 3번에 결정 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939701" cy="939701"/>
          </a:xfrm>
          <a:prstGeom prst="roundRect">
            <a:avLst>
              <a:gd name="adj" fmla="val 21624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 lIns="54864" rIns="54864" tIns="36576" bIns="27432"/>
          <a:lstStyle/>
          <a:p>
            <a:pPr marL="0" indent="0" algn="ctr">
              <a:buNone/>
            </a:pPr>
            <a:r>
              <a:rPr sz="3000" b="0">
                <a:solidFill>
                  <a:srgbClr val="16202E"/>
                </a:solidFill>
                <a:latin typeface="Arial"/>
              </a:rPr>
              <a:t>🎲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74602" y="1128861"/>
            <a:ext cx="35854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이름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name · 최대 30자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574602" y="1290786"/>
            <a:ext cx="3515171" cy="330101"/>
          </a:xfrm>
          <a:prstGeom prst="roundRect">
            <a:avLst>
              <a:gd name="adj" fmla="val 15389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1400" b="1">
                <a:solidFill>
                  <a:srgbClr val="16202E"/>
                </a:solidFill>
                <a:latin typeface="Arial"/>
              </a:rPr>
              <a:t>골라줘 v2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4602" y="1671638"/>
            <a:ext cx="35854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부제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· 최대 30자 · 한 줄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574602" y="1833563"/>
            <a:ext cx="351517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1000" b="0">
                <a:solidFill>
                  <a:srgbClr val="16202E"/>
                </a:solidFill>
                <a:latin typeface="Arial"/>
              </a:rPr>
              <a:t>고민을 게임으로, 탭 3번에 결정 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950" y="2189113"/>
            <a:ext cx="229786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07950" y="2351038"/>
            <a:ext cx="225281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900" b="0">
                <a:solidFill>
                  <a:srgbClr val="16202E"/>
                </a:solidFill>
                <a:latin typeface="Arial"/>
              </a:rPr>
              <a:t>라이프스타일 · 엔터테인먼트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36962" y="2189113"/>
            <a:ext cx="229786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사용자 / 사용 상황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836962" y="2351038"/>
            <a:ext cx="225281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작은 결정 앞에서 비교만 반복하는 20대 · 점심 직전 · 외출 10분 전 · 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2706588"/>
            <a:ext cx="467345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· 3줄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507950" y="2868513"/>
            <a:ext cx="4581823" cy="1767036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0">
                <a:solidFill>
                  <a:srgbClr val="16202E"/>
                </a:solidFill>
                <a:latin typeface="Arial"/>
              </a:rPr>
              <a:t>1. 고민 상황을 고르면 옵션과 단톡방 친구들의 표가 이미 있고, 듀얼 · 토너먼트 · 친구 투표 · 거부권 같은 결정 게임으로 「골라줘!」 한 번에 하나를 정한다.</a:t>
            </a:r>
            <a:endParaRPr lang="en-US" sz="1000" dirty="0"/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2. 현행 랜덤 휠은 옵션을 매번 입력하고(리뷰 유형 ①), 결과를 못 받아들여 계속 다시 돌린다(유형 ③ · 저니 최저점 "결과 확인").</a:t>
            </a:r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3. 핵심 가치: "결정을 대신해 주는 앱"이 아니라 "결정을 끝내게 해 주는 게임" — 후회 테스트 + 결정 잠금.</a:t>
            </a:r>
          </a:p>
        </p:txBody>
      </p:sp>
      <p:sp>
        <p:nvSpPr>
          <p:cNvPr id="25" name="Text 23"/>
          <p:cNvSpPr/>
          <p:nvPr/>
        </p:nvSpPr>
        <p:spPr>
          <a:xfrm>
            <a:off x="5242173" y="1128861"/>
            <a:ext cx="34617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및 리뷰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and Reviews · 05장과 같은 숫자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242173" y="1328886"/>
            <a:ext cx="169201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별점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5242173" y="1490811"/>
            <a:ext cx="1658838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1600" b="1">
                <a:solidFill>
                  <a:srgbClr val="16202E"/>
                </a:solidFill>
                <a:latin typeface="Arial"/>
              </a:rPr>
              <a:t>★ 4.3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77211" y="1328886"/>
            <a:ext cx="169201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수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977211" y="1490811"/>
            <a:ext cx="1658838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1200" b="1">
                <a:solidFill>
                  <a:srgbClr val="16202E"/>
                </a:solidFill>
                <a:latin typeface="Arial"/>
              </a:rPr>
              <a:t>6건 · GP 3.52K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42173" y="1973312"/>
            <a:ext cx="34617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리뷰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242173" y="2135237"/>
            <a:ext cx="3393877" cy="1982837"/>
          </a:xfrm>
          <a:prstGeom prst="roundRect">
            <a:avLst>
              <a:gd name="adj" fmla="val 256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"it is not that random... When you spin it will often land in a certain place more often than others" — ★1 · 2021-11-13 (Google Play, 작성자 이름 지움)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42173" y="4194274"/>
            <a:ext cx="34617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5242173" y="4356199"/>
            <a:ext cx="3393877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Decide Now! Spin the Wheel (Catforce Studio) — App Store ★4.3 · 6건(지역 스토어) · Google Play 리뷰 3.52K · 2026-10-29 직접 확인 · 수업 목적 인용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7950" y="4810125"/>
            <a:ext cx="654080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칸 이름: README "앱 소개" · 요소 이름 · 글자 제한: Apple "App Store product page" 문서 · 안내문 4장 1 · 2단계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프로젝트 개요 2/2 — 스크린샷 · 새로운 기능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v1 → 나의 v2: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"돌리고 끝" → "겨루고 잠근다"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914400" cy="164902"/>
          </a:xfrm>
          <a:prstGeom prst="roundRect">
            <a:avLst>
              <a:gd name="adj" fmla="val 77015"/>
            </a:avLst>
          </a:prstGeom>
          <a:solidFill>
            <a:srgbClr val="93A4B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8555" y="1154162"/>
            <a:ext cx="2989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현행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07950" y="1331863"/>
            <a:ext cx="914400" cy="2986236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4356199"/>
            <a:ext cx="914400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v1 결과 = 휠만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85751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49475" y="1154162"/>
            <a:ext cx="3946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화면 A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485751" y="1331863"/>
            <a:ext cx="914549" cy="2986236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85751" y="4356199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A 무슨 결정?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63701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27424" y="1154162"/>
            <a:ext cx="3946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화면 B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2463701" y="1331863"/>
            <a:ext cx="914549" cy="2986236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463701" y="4356199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B 옵션 | 결정 방식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41650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705374" y="1154162"/>
            <a:ext cx="3946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화면 C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441650" y="1331863"/>
            <a:ext cx="914549" cy="2986236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41650" y="4356199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C 결과 · 잠금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419600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35996" y="1154162"/>
            <a:ext cx="4912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넓은 화면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4419600" y="1331863"/>
            <a:ext cx="914549" cy="2986236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419600" y="4356199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≥600dp 격자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461099" y="1128861"/>
            <a:ext cx="32384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기능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= v2에서 바뀐 것 3개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5461099" y="1354187"/>
            <a:ext cx="4317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34025" y="1389013"/>
            <a:ext cx="236056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P번호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5883325" y="1354187"/>
            <a:ext cx="149349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56250" y="1389013"/>
            <a:ext cx="1001304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바뀐 것 (화면 · 요소 번호)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7367290" y="1354187"/>
            <a:ext cx="126876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440216" y="1389013"/>
            <a:ext cx="691167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(리뷰 · 원칙)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5461099" y="1539776"/>
            <a:ext cx="431750" cy="97080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34025" y="1967359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883325" y="1539776"/>
            <a:ext cx="1493490" cy="97080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상황 템플릿 — A-6 카드를 고르기만 하면 옵션이 이미 있다 (입력 0번)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67290" y="1539776"/>
            <a:ext cx="1268760" cy="97080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리뷰 유형 ① 입력 부담 · 닐슨 6 재인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461099" y="2501057"/>
            <a:ext cx="43175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34025" y="2928789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883325" y="2501057"/>
            <a:ext cx="149349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결정 게임 + 추천 — B-6 추천 게임이 미리 선택, 탭 3번 (A 카드 → 골라줘! → 잠금)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367290" y="2501057"/>
            <a:ext cx="126876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리뷰 유형 ③ · 닐슨 7 효율성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61099" y="3462486"/>
            <a:ext cx="43175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534025" y="3890218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883325" y="3462486"/>
            <a:ext cx="149349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멈춤 설계 — C-6 후회 테스트 · C-8 3번째 STOP 배너 · C-7 결정 잠금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67290" y="3462486"/>
            <a:ext cx="126876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저니 최저점 "결과 확인" · 닐슨 5 오류 예방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461099" y="4496842"/>
            <a:ext cx="3238449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v1 캡처는 수업 목적 인용 — 출처는 1/2장 "출처" 칸에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507950" y="4810125"/>
            <a:ext cx="64050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Screenshots · What's New: Apple "App Store product page" 문서 · README "앱 소개" · 안내문 4장 5단계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80" dirty="0"/>
          </a:p>
        </p:txBody>
      </p:sp>
      <p:pic>
        <p:nvPicPr>
          <p:cNvPr id="64" name="Picture 63" descr="v1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6" y="1912921"/>
            <a:ext cx="841248" cy="1824120"/>
          </a:xfrm>
          <a:prstGeom prst="rect">
            <a:avLst/>
          </a:prstGeom>
        </p:spPr>
      </p:pic>
      <p:pic>
        <p:nvPicPr>
          <p:cNvPr id="65" name="Picture 64" descr="01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327" y="1914546"/>
            <a:ext cx="841397" cy="1820869"/>
          </a:xfrm>
          <a:prstGeom prst="rect">
            <a:avLst/>
          </a:prstGeom>
        </p:spPr>
      </p:pic>
      <p:pic>
        <p:nvPicPr>
          <p:cNvPr id="66" name="Picture 65" descr="02_B_op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277" y="1914546"/>
            <a:ext cx="841397" cy="1820869"/>
          </a:xfrm>
          <a:prstGeom prst="rect">
            <a:avLst/>
          </a:prstGeom>
        </p:spPr>
      </p:pic>
      <p:pic>
        <p:nvPicPr>
          <p:cNvPr id="67" name="Picture 66" descr="05_C_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226" y="1914546"/>
            <a:ext cx="841397" cy="1820869"/>
          </a:xfrm>
          <a:prstGeom prst="rect">
            <a:avLst/>
          </a:prstGeom>
        </p:spPr>
      </p:pic>
      <p:pic>
        <p:nvPicPr>
          <p:cNvPr id="68" name="Picture 67" descr="09_wide_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176" y="2562044"/>
            <a:ext cx="841397" cy="525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문제 정의 1/2 — 현행 분석 · 리뷰 근거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정의: </a:t>
            </a:r>
            <a:r>
              <a:rPr lang="ko-KR" altLang="en-US" sz="1900" dirty="0" err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내기만 하고, 받아들이게 돕지 않는다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19431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 분포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07950" y="1290786"/>
            <a:ext cx="3810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0876" y="1325612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79425" y="1290786"/>
            <a:ext cx="1533525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52351" y="1325612"/>
            <a:ext cx="428089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비율 · 건수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507950" y="1476375"/>
            <a:ext cx="381000" cy="550664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0876" y="1690688"/>
            <a:ext cx="13616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★5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879425" y="1476375"/>
            <a:ext cx="1533525" cy="5506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1건 (인용 표본)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7950" y="2017514"/>
            <a:ext cx="381000" cy="550813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0876" y="2231827"/>
            <a:ext cx="13616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★4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879425" y="2017514"/>
            <a:ext cx="1533525" cy="55081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— (인용 표본)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2558802"/>
            <a:ext cx="381000" cy="550664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0876" y="2773114"/>
            <a:ext cx="13616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★3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879425" y="2558802"/>
            <a:ext cx="1533525" cy="5506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— (인용 표본)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099941"/>
            <a:ext cx="381000" cy="550664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0876" y="3314254"/>
            <a:ext cx="13616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★2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879425" y="3099941"/>
            <a:ext cx="1533525" cy="5506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3건 (인용 표본)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3641080"/>
            <a:ext cx="381000" cy="550664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0876" y="3855393"/>
            <a:ext cx="13616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★1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879425" y="3641080"/>
            <a:ext cx="1533525" cy="5506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1건 (인용 표본)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4255145"/>
            <a:ext cx="194310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 · 수집일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507950" y="4417070"/>
            <a:ext cx="1905000" cy="218480"/>
          </a:xfrm>
          <a:prstGeom prst="roundRect">
            <a:avLst>
              <a:gd name="adj" fmla="val 2325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Google Play · 2026-10-29 · 약 190건 직접 분류 (분포 그래프 미표시 → 인용 표본)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39901" y="1128861"/>
            <a:ext cx="40683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인용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3014960" y="1138386"/>
            <a:ext cx="6674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 · 날짜 · 별점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539901" y="1316087"/>
            <a:ext cx="3124498" cy="1064121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#1 · 2023-05-28 · ★2 · "Works as described in free mode! However cannot import my professor's wheels; therefore have to manually input." (유형 ①)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39901" y="2443609"/>
            <a:ext cx="3124498" cy="106427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#2 · 2021-11-13 · ★1 · "it is not that random... When you spin it will often land in a certain place more often than others" (유형 ③)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39901" y="3571280"/>
            <a:ext cx="3124498" cy="1064270"/>
          </a:xfrm>
          <a:prstGeom prst="roundRect">
            <a:avLst>
              <a:gd name="adj" fmla="val 477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#3 · 2018-09-13 · ★2 · "the labels don't stay deactivated when I switch between wheels or close the app, so it's useless to me." (유형 ③)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91349" y="1128861"/>
            <a:ext cx="290159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4유형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5791349" y="1290786"/>
            <a:ext cx="17716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64275" y="1325612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7553474" y="1290786"/>
            <a:ext cx="4317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626400" y="1325612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건수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7975699" y="1290786"/>
            <a:ext cx="6603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048625" y="1325612"/>
            <a:ext cx="252451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#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5791349" y="1476375"/>
            <a:ext cx="1771650" cy="6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64275" y="1720155"/>
            <a:ext cx="169164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입력 · 편집 부담 (일괄 입력 · 라벨 삭제 불가)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553474" y="1476375"/>
            <a:ext cx="431750" cy="6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약 25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975699" y="1476375"/>
            <a:ext cx="660350" cy="6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048625" y="1720155"/>
            <a:ext cx="5055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791349" y="2070050"/>
            <a:ext cx="17716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64275" y="2313980"/>
            <a:ext cx="169164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유료 · 기능 제한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553474" y="2070050"/>
            <a:ext cx="4317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약 22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975699" y="2070050"/>
            <a:ext cx="6603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48625" y="2313980"/>
            <a:ext cx="5055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791349" y="2663875"/>
            <a:ext cx="17716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864275" y="2907804"/>
            <a:ext cx="169164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결과를 못 믿음 · 이어 가기 실패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553474" y="2663875"/>
            <a:ext cx="4317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약 20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975699" y="2663875"/>
            <a:ext cx="6603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048625" y="2907804"/>
            <a:ext cx="5055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#3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791349" y="3257699"/>
            <a:ext cx="17716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864275" y="3501628"/>
            <a:ext cx="169164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칭찬: 재미 · 다툼 해결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53474" y="3257699"/>
            <a:ext cx="4317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약 60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975699" y="3257699"/>
            <a:ext cx="660350" cy="60334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048625" y="3501628"/>
            <a:ext cx="5055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791349" y="3924449"/>
            <a:ext cx="290159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잘된 점 — 닐슨 원칙 번호로</a:t>
            </a:r>
            <a:endParaRPr lang="en-US" sz="840" dirty="0"/>
          </a:p>
        </p:txBody>
      </p:sp>
      <p:sp>
        <p:nvSpPr>
          <p:cNvPr id="66" name="Text 64"/>
          <p:cNvSpPr/>
          <p:nvPr/>
        </p:nvSpPr>
        <p:spPr>
          <a:xfrm>
            <a:off x="5791349" y="4086374"/>
            <a:ext cx="457200" cy="279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864275" y="4121200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239024" y="4086374"/>
            <a:ext cx="2397026" cy="279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미니멀 — "Simple. Easy to Use. Awesome" (2021-01-02)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791349" y="4356199"/>
            <a:ext cx="457200" cy="279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864275" y="4391025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239024" y="4356199"/>
            <a:ext cx="2397026" cy="279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재미 — "letting the wheel decide makes it kind of fun" ★5 (2025-07-15)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7950" y="4810125"/>
            <a:ext cx="515240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1단계 · 8장 FAQ(리뷰 인용) · 7장 기획 "현행 분석 · 리뷰 근거 10"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문제 정의 2/2 — 저니 감정 최저점 · 근본 원인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받아들이고 멈추는 단계가 없다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49" y="1128861"/>
            <a:ext cx="8128099" cy="2849612"/>
          </a:xfrm>
          <a:prstGeom prst="roundRect">
            <a:avLst>
              <a:gd name="adj" fmla="val 2674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t" lIns="54864" rIns="54864" tIns="36576" bIns="27432"/>
          <a:lstStyle/>
          <a:p>
            <a:pPr marL="0" indent="0">
              <a:buNone/>
            </a:pPr>
            <a:r>
              <a:rPr sz="950" b="0">
                <a:solidFill>
                  <a:srgbClr val="16202E"/>
                </a:solidFill>
                <a:latin typeface="Arial"/>
              </a:rPr>
              <a:t>목표: 점심 메뉴를 3분 안에 정한다 (현행 랜덤 휠)</a:t>
            </a:r>
            <a:endParaRPr lang="en-US" dirty="0"/>
          </a:p>
          <a:p>
            <a:r>
              <a:rPr sz="950" b="0">
                <a:solidFill>
                  <a:srgbClr val="16202E"/>
                </a:solidFill>
                <a:latin typeface="Arial"/>
              </a:rPr>
              <a:t>1. 고민 시작  ·  감정 0</a:t>
            </a:r>
          </a:p>
          <a:p>
            <a:r>
              <a:rPr sz="950" b="0">
                <a:solidFill>
                  <a:srgbClr val="16202E"/>
                </a:solidFill>
                <a:latin typeface="Arial"/>
              </a:rPr>
              <a:t>2. 옵션 4개 직접 입력  ·  −1  (리뷰 #1 · 유형 ①)</a:t>
            </a:r>
          </a:p>
          <a:p>
            <a:r>
              <a:rPr sz="950" b="0">
                <a:solidFill>
                  <a:srgbClr val="16202E"/>
                </a:solidFill>
                <a:latin typeface="Arial"/>
              </a:rPr>
              <a:t>3. 휠 돌리기  ·  +1</a:t>
            </a:r>
          </a:p>
          <a:p>
            <a:r>
              <a:rPr sz="950" b="0">
                <a:solidFill>
                  <a:srgbClr val="16202E"/>
                </a:solidFill>
                <a:latin typeface="Arial"/>
              </a:rPr>
              <a:t>4. 결과 확인  ·  −2  ◀ 감정 최저점  (리뷰 #2 · 유형 ③)</a:t>
            </a:r>
          </a:p>
          <a:p>
            <a:r>
              <a:rPr sz="950" b="0">
                <a:solidFill>
                  <a:srgbClr val="16202E"/>
                </a:solidFill>
                <a:latin typeface="Arial"/>
              </a:rPr>
              <a:t>5. 마음에 안 들어 다시 돌리기  ·  −1</a:t>
            </a:r>
          </a:p>
          <a:p>
            <a:r>
              <a:rPr sz="950" b="0">
                <a:solidFill>
                  <a:srgbClr val="16202E"/>
                </a:solidFill>
                <a:latin typeface="Arial"/>
              </a:rPr>
              <a:t>피쉬본 6시각 중 우선순위 → 모바일 UX: 결과 화면에 "다시"만 있고 "확정"이 없다 (UI로 고칠 수 있음)</a:t>
            </a:r>
          </a:p>
          <a:p>
            <a:r>
              <a:rPr sz="950" b="0">
                <a:solidFill>
                  <a:srgbClr val="16202E"/>
                </a:solidFill>
                <a:latin typeface="Arial"/>
              </a:rPr>
              <a:t>5 Why: 다시 돌린다 → 결과가 마음에 안 든다 → 내 선택 같지 않다 → 결정에 참여한 단계가 없다 → 결과 뒤(수용 · 멈춤)를 설계하지 않았다</a:t>
            </a:r>
          </a:p>
        </p:txBody>
      </p:sp>
      <p:sp>
        <p:nvSpPr>
          <p:cNvPr id="10" name="Text 8"/>
          <p:cNvSpPr/>
          <p:nvPr/>
        </p:nvSpPr>
        <p:spPr>
          <a:xfrm>
            <a:off x="507950" y="4041874"/>
            <a:ext cx="468955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최저점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507950" y="4203799"/>
            <a:ext cx="4597598" cy="431750"/>
          </a:xfrm>
          <a:prstGeom prst="roundRect">
            <a:avLst>
              <a:gd name="adj" fmla="val 11766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4단계 "결과 확인" — 이유 없는 랜덤이라 의심만 남고, 앱은 다시 돌리기만 권한다 (리뷰 #2) · 어긴 원칙 P10 · P05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32499" y="4016425"/>
            <a:ext cx="347162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 → v2에서 고칠 것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232499" y="4178350"/>
            <a:ext cx="3403550" cy="457200"/>
          </a:xfrm>
          <a:prstGeom prst="roundRect">
            <a:avLst>
              <a:gd name="adj" fmla="val 11111"/>
            </a:avLst>
          </a:prstGeom>
          <a:solidFill>
            <a:srgbClr val="EAF1FD"/>
          </a:solidFill>
          <a:ln w="9525">
            <a:solidFill>
              <a:srgbClr val="2F6FE4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결과를 받아들이고 멈추는 단계가 없다 → C-6 후회 테스트(P06) · C-5 수용 카피(P02) · C-7 결정 잠금(P03) · C-8 3번째 STOP(P05)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950" y="4810125"/>
            <a:ext cx="456279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3 · 4단계 · 7장 기획 "저니 8 · 피쉬본 · 5 Why 5"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해결 방법 — UX/UI 기획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결과 시트가 "받아들이고 잠그기"를 만든다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2997101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 lIns="54864" rIns="54864" tIns="36576" bIns="27432"/>
          <a:lstStyle/>
          <a:p>
            <a:pPr marL="0" indent="0" algn="ctr">
              <a:buNone/>
            </a:pPr>
            <a:r>
              <a:rPr sz="850" b="0">
                <a:solidFill>
                  <a:srgbClr val="16202E"/>
                </a:solidFill>
                <a:latin typeface="Arial"/>
              </a:rPr>
              <a:t>A 무슨 결정? ─쌓기(push)→ B 고민 상세 [옵션 | 결정 방식] ─덮기(modal)→ C 결과</a:t>
            </a:r>
            <a:endParaRPr lang="en-US" dirty="0"/>
          </a:p>
          <a:p>
            <a:pPr algn="ctr"/>
            <a:r>
              <a:rPr sz="850" b="0">
                <a:solidFill>
                  <a:srgbClr val="16202E"/>
                </a:solidFill>
                <a:latin typeface="Arial"/>
              </a:rPr>
              <a:t>FEEL(B-2 기분) → FIGHT(B-6 게임) → REVEAL(C-3 · C-4) → LOCK(C-7)</a:t>
            </a:r>
          </a:p>
        </p:txBody>
      </p:sp>
      <p:sp>
        <p:nvSpPr>
          <p:cNvPr id="10" name="Text 8"/>
          <p:cNvSpPr/>
          <p:nvPr/>
        </p:nvSpPr>
        <p:spPr>
          <a:xfrm>
            <a:off x="507950" y="1878062"/>
            <a:ext cx="2997101" cy="2757488"/>
          </a:xfrm>
          <a:prstGeom prst="roundRect">
            <a:avLst>
              <a:gd name="adj" fmla="val 276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19351" y="1128861"/>
            <a:ext cx="511703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요소 분석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3619351" y="1290786"/>
            <a:ext cx="381000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92277" y="1329630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990826" y="1290786"/>
            <a:ext cx="2103537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63752" y="1329630"/>
            <a:ext cx="589002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위젯명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6084838" y="1290786"/>
            <a:ext cx="2103537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57764" y="1329630"/>
            <a:ext cx="774052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명칭(한글)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178850" y="1290786"/>
            <a:ext cx="457200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51775" y="1329630"/>
            <a:ext cx="236056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P번호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3619351" y="1484412"/>
            <a:ext cx="381000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92277" y="161404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90826" y="1484412"/>
            <a:ext cx="2103537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_StepBar 4칸 막대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84838" y="1484412"/>
            <a:ext cx="2103537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결정 단계 표시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78850" y="1484412"/>
            <a:ext cx="457200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51775" y="161404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619351" y="1849785"/>
            <a:ext cx="381000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1">
                <a:solidFill>
                  <a:srgbClr val="16202E"/>
                </a:solidFill>
                <a:latin typeface="Arial"/>
              </a:rPr>
              <a:t>C-4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90826" y="1849785"/>
            <a:ext cx="2103537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RoundCard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84838" y="1849785"/>
            <a:ext cx="2103537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골라준 옵션 + 이유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78850" y="1849785"/>
            <a:ext cx="457200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51775" y="1979563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19351" y="2215307"/>
            <a:ext cx="381000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1">
                <a:solidFill>
                  <a:srgbClr val="16202E"/>
                </a:solidFill>
                <a:latin typeface="Arial"/>
              </a:rPr>
              <a:t>C-6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90826" y="2215307"/>
            <a:ext cx="2103537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OutlinedButton ×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84838" y="2215307"/>
            <a:ext cx="2103537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아쉬웠어? 반응 테스트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78850" y="2215307"/>
            <a:ext cx="457200" cy="37489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51775" y="2344936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619351" y="2580680"/>
            <a:ext cx="381000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1">
                <a:solidFill>
                  <a:srgbClr val="16202E"/>
                </a:solidFill>
                <a:latin typeface="Arial"/>
              </a:rPr>
              <a:t>C-7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90826" y="2580680"/>
            <a:ext cx="2103537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FilledButton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84838" y="2580680"/>
            <a:ext cx="2103537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결정 잠금 / 해제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8850" y="2580680"/>
            <a:ext cx="457200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51775" y="2710458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19351" y="2946202"/>
            <a:ext cx="381000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1">
                <a:solidFill>
                  <a:srgbClr val="16202E"/>
                </a:solidFill>
                <a:latin typeface="Arial"/>
              </a:rPr>
              <a:t>C-8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990826" y="2946202"/>
            <a:ext cx="2103537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OutlinedButton + 배너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84838" y="2946202"/>
            <a:ext cx="2103537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다시 · 그만 고민 배너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178850" y="2946202"/>
            <a:ext cx="457200" cy="37504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51775" y="3075980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619351" y="3371999"/>
            <a:ext cx="25196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전달 기준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3619351" y="3533924"/>
            <a:ext cx="2470249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진행 막대 → 결승 → 결과 이름(36px, 유일한 주인공) → 이유 → 카피 → 반응 → 잠금 · 강조색은 코랄 하나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65800" y="3371999"/>
            <a:ext cx="25196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가이드 글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6165800" y="3533924"/>
            <a:ext cx="2470249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결과 시트: 결과를 "받아들이게" 하는 화면. 결과 하나만 크게, 이유는 한 줄, 잠금은 언제든 해제, 맨 아래 예시 결과 고지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619351" y="4092625"/>
            <a:ext cx="6891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상태관리 포인트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4371231" y="4102150"/>
            <a:ext cx="7746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표시만 · 구현은 감점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3619351" y="4254550"/>
            <a:ext cx="5016698" cy="381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// STATE: S3 결정 잠금 · 결과 → (v3) 결정 일기   // STATE: S4 만족도 → (v3) 내 결정 스타일 — 구현 안 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7950" y="4810125"/>
            <a:ext cx="507149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5장 감점(상태관리 구현 · 가이드에 없는 화면) · 7장 기획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80" dirty="0"/>
          </a:p>
        </p:txBody>
      </p:sp>
      <p:pic>
        <p:nvPicPr>
          <p:cNvPr id="62" name="Picture 61" descr="07_C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04" y="1914638"/>
            <a:ext cx="1240392" cy="2684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1568" y="304800"/>
            <a:ext cx="156448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98519" y="342900"/>
            <a:ext cx="133679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· 셀프 논증 기록 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셀프 논증 — AI 반론으로 다진 UX/UI 결정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"다시"는 막지 않고 말린다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8889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0876" y="1164729"/>
            <a:ext cx="161368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쟁점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387376" y="1128861"/>
            <a:ext cx="1750814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0302" y="1164729"/>
            <a:ext cx="268087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주장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128665" y="1128861"/>
            <a:ext cx="1991469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01591" y="1164729"/>
            <a:ext cx="50626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반론 (AI · 나)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110609" y="1128861"/>
            <a:ext cx="1750814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83535" y="1164729"/>
            <a:ext cx="481221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재반론 / 수정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6851898" y="1128861"/>
            <a:ext cx="634901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24824" y="1164729"/>
            <a:ext cx="161368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477274" y="1128861"/>
            <a:ext cx="5841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50200" y="1164729"/>
            <a:ext cx="410935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P번호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051899" y="1128861"/>
            <a:ext cx="5841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4825" y="1164729"/>
            <a:ext cx="24425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· 후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07950" y="1309836"/>
            <a:ext cx="888950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1">
                <a:solidFill>
                  <a:srgbClr val="16202E"/>
                </a:solidFill>
                <a:latin typeface="Arial"/>
              </a:rPr>
              <a:t>「다시」 허용 횟수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87376" y="1309836"/>
            <a:ext cx="1750814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무제한 다시 — 원할 때까지 돌릴 자유(P03)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28665" y="1309836"/>
            <a:ext cx="1991469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AI: "무제한 다시는 현행 문제(유형 ③)를 복사한다, P05 위반" · 나: "횟수 제한은 저장이 필요 → 감점"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10609" y="1309836"/>
            <a:ext cx="1750814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막지 않고 말린다: 3번째 결과에 STOP 배너(C-8) + 잠그면 다시 비활성(C-7, 해제 가능)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1898" y="1309836"/>
            <a:ext cx="634901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900" b="1">
                <a:solidFill>
                  <a:srgbClr val="16202E"/>
                </a:solidFill>
                <a:latin typeface="Arial"/>
              </a:rPr>
              <a:t>수정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77274" y="1309836"/>
            <a:ext cx="584150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P05 · P03 · 리뷰 #2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51899" y="1309836"/>
            <a:ext cx="584150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B1 C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7950" y="1808262"/>
            <a:ext cx="888950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87376" y="1808262"/>
            <a:ext cx="1750814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28665" y="1808262"/>
            <a:ext cx="1991469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10609" y="1808262"/>
            <a:ext cx="1750814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1898" y="1808262"/>
            <a:ext cx="634901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77274" y="1808262"/>
            <a:ext cx="584150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51899" y="1808262"/>
            <a:ext cx="584150" cy="507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7950" y="2379613"/>
            <a:ext cx="32384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요청한 반론 (prompt-log 행)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507950" y="2541538"/>
            <a:ext cx="3174950" cy="2094012"/>
          </a:xfrm>
          <a:prstGeom prst="roundRect">
            <a:avLst>
              <a:gd name="adj" fmla="val 2426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"이 설계의 약점을 닐슨 원칙으로 반박해 줘. 특히 다시 버튼, 기분 화면, preset 결과, 잠금 저장" — B3 #4</a:t>
            </a:r>
            <a:endParaRPr lang="en-US" sz="800" dirty="0"/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결과: 쟁점 5개 → 수정 3 · 유지 1 · 폐기 1 (docs/셀프논증.md)</a:t>
            </a:r>
          </a:p>
        </p:txBody>
      </p:sp>
      <p:sp>
        <p:nvSpPr>
          <p:cNvPr id="45" name="Text 43"/>
          <p:cNvSpPr/>
          <p:nvPr/>
        </p:nvSpPr>
        <p:spPr>
          <a:xfrm>
            <a:off x="3771751" y="2379613"/>
            <a:ext cx="2387650" cy="174427"/>
          </a:xfrm>
          <a:prstGeom prst="roundRect">
            <a:avLst>
              <a:gd name="adj" fmla="val 72810"/>
            </a:avLst>
          </a:prstGeom>
          <a:solidFill>
            <a:srgbClr val="93A4B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625876" y="2404914"/>
            <a:ext cx="69283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(내 처음 주장)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771751" y="2592139"/>
            <a:ext cx="2387650" cy="2043410"/>
          </a:xfrm>
          <a:prstGeom prst="roundRect">
            <a:avLst>
              <a:gd name="adj" fmla="val 3729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48251" y="2379613"/>
            <a:ext cx="2387798" cy="174427"/>
          </a:xfrm>
          <a:prstGeom prst="roundRect">
            <a:avLst>
              <a:gd name="adj" fmla="val 72810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160419" y="2404914"/>
            <a:ext cx="57458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 (결론 반영)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48251" y="2592139"/>
            <a:ext cx="2387798" cy="2043410"/>
          </a:xfrm>
          <a:prstGeom prst="roundRect">
            <a:avLst>
              <a:gd name="adj" fmla="val 3729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07950" y="4810125"/>
            <a:ext cx="511930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7단계 · 7장 셀프 논증 기록 20 · 8장 FAQ(AI 반론은 어떻게 받나)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80" dirty="0"/>
          </a:p>
        </p:txBody>
      </p:sp>
      <p:pic>
        <p:nvPicPr>
          <p:cNvPr id="57" name="Picture 56" descr="ol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362" y="2628715"/>
            <a:ext cx="910427" cy="1970258"/>
          </a:xfrm>
          <a:prstGeom prst="rect">
            <a:avLst/>
          </a:prstGeom>
        </p:spPr>
      </p:pic>
      <p:pic>
        <p:nvPicPr>
          <p:cNvPr id="58" name="Picture 57" descr="07_C_s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936" y="2628715"/>
            <a:ext cx="910427" cy="19702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9886" y="304800"/>
            <a:ext cx="976164" cy="190500"/>
          </a:xfrm>
          <a:prstGeom prst="roundRect">
            <a:avLst>
              <a:gd name="adj" fmla="val 66667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86836" y="342900"/>
            <a:ext cx="7367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1:15 · UI 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데모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뭐 먹지 → 골라줘! → 잠금, 탭 3번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4673501" cy="3506688"/>
          </a:xfrm>
          <a:prstGeom prst="roundRect">
            <a:avLst>
              <a:gd name="adj" fmla="val 217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08402" y="1128861"/>
            <a:ext cx="33942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· 배포 URL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5308402" y="1290786"/>
            <a:ext cx="3327648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영상: docs/영상/demo.mp4 (1분) · 로컬: cd mock_server &amp;&amp; npm start → flutter run -d chrome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8402" y="1658987"/>
            <a:ext cx="33942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보여 줄 것 — 체크하고 장면 시간을 적는다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5308402" y="1820912"/>
            <a:ext cx="2539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52777" y="1820912"/>
            <a:ext cx="12192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25703" y="1855738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762452" y="1820912"/>
            <a:ext cx="1873597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35378" y="1855738"/>
            <a:ext cx="625739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장면 · 영상 시간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308402" y="2006501"/>
            <a:ext cx="253901" cy="446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71951" y="2166045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FFFFF"/>
          </a:solidFill>
          <a:ln w="9525">
            <a:solidFill>
              <a:srgbClr val="93A4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52777" y="2006501"/>
            <a:ext cx="1219200" cy="44603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25703" y="2168426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전환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762452" y="2006501"/>
            <a:ext cx="1873597" cy="446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0:00– A → B(push) · 탭 · 둘이서 → C(modal)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8402" y="2443014"/>
            <a:ext cx="253901" cy="446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71951" y="2602557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FFFFF"/>
          </a:solidFill>
          <a:ln w="9525">
            <a:solidFill>
              <a:srgbClr val="93A4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52777" y="2443014"/>
            <a:ext cx="1219200" cy="44618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25703" y="2605088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임의 결과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6762452" y="2443014"/>
            <a:ext cx="1873597" cy="446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0:30– 골라줘! → 반전 · 다시 ×2 → STOP · 잠금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08402" y="2879675"/>
            <a:ext cx="253901" cy="446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71951" y="3039219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FFFFF"/>
          </a:solidFill>
          <a:ln w="9525">
            <a:solidFill>
              <a:srgbClr val="93A4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52777" y="2879675"/>
            <a:ext cx="1219200" cy="44603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25703" y="3041600"/>
            <a:ext cx="740048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json-server GET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762452" y="2879675"/>
            <a:ext cx="1873597" cy="446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0:00– db.json(/items · /notes · /history) 표시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08402" y="3316188"/>
            <a:ext cx="253901" cy="446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71951" y="3475732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FFFFF"/>
          </a:solidFill>
          <a:ln w="9525">
            <a:solidFill>
              <a:srgbClr val="93A4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552777" y="3316188"/>
            <a:ext cx="1219200" cy="44618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25703" y="3478262"/>
            <a:ext cx="776936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로딩 · 오류 · 빈 상태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6762452" y="3316188"/>
            <a:ext cx="1873597" cy="446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0:55– 오류 + 다시 시도 · 0:58– 빈 상태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08402" y="3752850"/>
            <a:ext cx="253901" cy="446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71951" y="3912394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FFFFF"/>
          </a:solidFill>
          <a:ln w="9525">
            <a:solidFill>
              <a:srgbClr val="93A4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552777" y="3752850"/>
            <a:ext cx="1219200" cy="44603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625703" y="3914775"/>
            <a:ext cx="69708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적응형 (넓은 화면)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6762452" y="3752850"/>
            <a:ext cx="1873597" cy="446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0:47– 넓은 화면 2단 · 격자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08402" y="4189363"/>
            <a:ext cx="253901" cy="446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371951" y="4348907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FFFFF"/>
          </a:solidFill>
          <a:ln w="9525">
            <a:solidFill>
              <a:srgbClr val="93A4B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552777" y="4189363"/>
            <a:ext cx="1219200" cy="44618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625703" y="4351437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클립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6762452" y="4189363"/>
            <a:ext cx="1873597" cy="446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demo.mp4 0:30 P05(STOP) · 0:10 P07(탭 3번)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7950" y="4810125"/>
            <a:ext cx="633906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6단계 · 6장 제출물 ①(README의 데모 영상 1분 또는 배포 URL) · 7장 UI 구현 25 · 발표 15(데모)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80" dirty="0"/>
          </a:p>
        </p:txBody>
      </p:sp>
      <p:pic>
        <p:nvPicPr>
          <p:cNvPr id="53" name="dem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4526" y="1588357"/>
            <a:ext cx="4600349" cy="25876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 · 발표 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Personal Learnings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26852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Learnings: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막지 말고 말린다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193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401" y="1166961"/>
            <a:ext cx="649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3501" y="1171724"/>
            <a:ext cx="31271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것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07950" y="1386036"/>
            <a:ext cx="2641699" cy="3249513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0">
                <a:solidFill>
                  <a:srgbClr val="16202E"/>
                </a:solidFill>
                <a:latin typeface="Arial"/>
              </a:rPr>
              <a:t>UX: 화면마다 주인공은 하나, 강조색도 하나</a:t>
            </a:r>
            <a:endParaRPr lang="en-US" sz="1000" dirty="0"/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원칙: P03 자유와 P05 예방은 "해제 가능한 잠금"으로 함께 지킬 수 있다</a:t>
            </a:r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Flutter: FutureBuilder 3상태 · LayoutBuilder 600dp</a:t>
            </a:r>
          </a:p>
        </p:txBody>
      </p:sp>
      <p:sp>
        <p:nvSpPr>
          <p:cNvPr id="12" name="Text 10"/>
          <p:cNvSpPr/>
          <p:nvPr/>
        </p:nvSpPr>
        <p:spPr>
          <a:xfrm>
            <a:off x="3251150" y="11193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33601" y="1166961"/>
            <a:ext cx="649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06701" y="1171724"/>
            <a:ext cx="62528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 회고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3251150" y="1386036"/>
            <a:ext cx="2641699" cy="3249513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0">
                <a:solidFill>
                  <a:srgbClr val="16202E"/>
                </a:solidFill>
                <a:latin typeface="Arial"/>
              </a:rPr>
              <a:t>AI 반론 5개 → 수정 3 · 유지 1 · 폐기 1</a:t>
            </a:r>
            <a:endParaRPr lang="en-US" sz="1000" dirty="0"/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가장 큰 수정: 내 "무제한 다시" → 3번째 STOP 배너 (prompt-log #4)</a:t>
            </a:r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폐기: 24시간 잠금 저장 (영구 저장 감점)</a:t>
            </a:r>
          </a:p>
        </p:txBody>
      </p:sp>
      <p:sp>
        <p:nvSpPr>
          <p:cNvPr id="17" name="Text 15"/>
          <p:cNvSpPr/>
          <p:nvPr/>
        </p:nvSpPr>
        <p:spPr>
          <a:xfrm>
            <a:off x="5994350" y="11193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76801" y="1166961"/>
            <a:ext cx="649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901" y="1171724"/>
            <a:ext cx="33958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v3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994350" y="1386036"/>
            <a:ext cx="2641699" cy="3249513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0">
                <a:solidFill>
                  <a:srgbClr val="16202E"/>
                </a:solidFill>
                <a:latin typeface="Arial"/>
              </a:rPr>
              <a:t>결정 일기 · 만족도 · 지갑 카드(S3 · S4 · S6)를 상태관리로</a:t>
            </a:r>
            <a:endParaRPr lang="en-US" sz="1000" dirty="0"/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듀얼 · 토너먼트 실제 진행 · 예산(balance) 배분 · 시간대 아이디어</a:t>
            </a:r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현행 리뷰를 더 모아 유형 건수 확정</a:t>
            </a:r>
          </a:p>
        </p:txBody>
      </p:sp>
      <p:sp>
        <p:nvSpPr>
          <p:cNvPr id="22" name="Text 20"/>
          <p:cNvSpPr/>
          <p:nvPr/>
        </p:nvSpPr>
        <p:spPr>
          <a:xfrm>
            <a:off x="507950" y="4810125"/>
            <a:ext cx="38310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7장 발표 15 · 8장 FAQ(AI 사용)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8546455" y="4810125"/>
            <a:ext cx="913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4235" y="304800"/>
            <a:ext cx="1661815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01185" y="342900"/>
            <a:ext cx="143607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 · 발표 15 (질의 응답)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Q&amp;A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26852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Q&amp;A: </a:t>
            </a:r>
            <a:r>
              <a:rPr lang="en-US" sz="1900" b="1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받겠습니다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19336"/>
            <a:ext cx="582945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질문 2개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07950" y="1281261"/>
            <a:ext cx="3301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347" y="1316087"/>
            <a:ext cx="76661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28526" y="1281261"/>
            <a:ext cx="3035498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1452" y="1316087"/>
            <a:ext cx="36797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질문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3854500" y="1281261"/>
            <a:ext cx="23686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27425" y="1316087"/>
            <a:ext cx="1406774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답할 근거 (부록 장 · P번호 · 리뷰 #)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507950" y="1466850"/>
            <a:ext cx="330101" cy="158903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6807" y="2200275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828526" y="1466850"/>
            <a:ext cx="3035498" cy="1589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900" b="1">
                <a:solidFill>
                  <a:srgbClr val="16202E"/>
                </a:solidFill>
                <a:latin typeface="Arial"/>
              </a:rPr>
              <a:t>그냥 랜덤 앱이랑 뭐가 다른가요?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54500" y="1466850"/>
            <a:ext cx="2368600" cy="158903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입력 0번(상황 템플릿) · 게임으로 고르기 · 받아들이고 잠그는 멈춤 설계 — 04장 · P05 · P06 · P07 · 리뷰 유형 ①③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3046363"/>
            <a:ext cx="330101" cy="158918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6807" y="3779937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828526" y="3046363"/>
            <a:ext cx="3035498" cy="1589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900" b="1">
                <a:solidFill>
                  <a:srgbClr val="16202E"/>
                </a:solidFill>
                <a:latin typeface="Arial"/>
              </a:rPr>
              <a:t>결과가 미리 정한 값이면 속이는 것 아닌가요?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54500" y="3046363"/>
            <a:ext cx="2368600" cy="158918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UI 프로토타입 규칙상 알고리즘은 감점 → C-9 "예시 결과" 고지(P10) · 셀프 논증 쟁점 3 · B3 #6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0050" y="1119336"/>
            <a:ext cx="233172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부록으로 바로 이동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350050" y="1293912"/>
            <a:ext cx="2286000" cy="547836"/>
          </a:xfrm>
          <a:prstGeom prst="roundRect">
            <a:avLst>
              <a:gd name="adj" fmla="val 1390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350050" y="1298674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631287" y="1293912"/>
            <a:ext cx="0" cy="54783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350050" y="183698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369100" y="1293912"/>
            <a:ext cx="0" cy="547836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515100" y="1510605"/>
            <a:ext cx="2589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6870502" y="1505843"/>
            <a:ext cx="16616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참조: 데모 및 스크린샷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0050" y="1892498"/>
            <a:ext cx="2286000" cy="547985"/>
          </a:xfrm>
          <a:prstGeom prst="roundRect">
            <a:avLst>
              <a:gd name="adj" fmla="val 1390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350050" y="1897261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631287" y="1892498"/>
            <a:ext cx="0" cy="54798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350050" y="2435721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369100" y="1892498"/>
            <a:ext cx="0" cy="547985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15100" y="2109341"/>
            <a:ext cx="2589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6870502" y="2104579"/>
            <a:ext cx="16616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P0x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50050" y="2491234"/>
            <a:ext cx="2286000" cy="547836"/>
          </a:xfrm>
          <a:prstGeom prst="roundRect">
            <a:avLst>
              <a:gd name="adj" fmla="val 1390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350050" y="2495996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631287" y="2491234"/>
            <a:ext cx="0" cy="54783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350050" y="3034308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369100" y="2491234"/>
            <a:ext cx="0" cy="547836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515100" y="2707928"/>
            <a:ext cx="2589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6870502" y="2707928"/>
            <a:ext cx="16616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prompt-log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0050" y="3089821"/>
            <a:ext cx="2286000" cy="547985"/>
          </a:xfrm>
          <a:prstGeom prst="roundRect">
            <a:avLst>
              <a:gd name="adj" fmla="val 1390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50050" y="3094583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8631287" y="3089821"/>
            <a:ext cx="0" cy="54798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350050" y="3633043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369100" y="3089821"/>
            <a:ext cx="0" cy="547985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515100" y="3306663"/>
            <a:ext cx="2589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6870502" y="3301901"/>
            <a:ext cx="16616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자가평가 요약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50050" y="3688556"/>
            <a:ext cx="2286000" cy="547985"/>
          </a:xfrm>
          <a:prstGeom prst="roundRect">
            <a:avLst>
              <a:gd name="adj" fmla="val 1390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6350050" y="3693319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8631287" y="3688556"/>
            <a:ext cx="0" cy="54798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350050" y="4231779"/>
            <a:ext cx="2286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369100" y="3688556"/>
            <a:ext cx="0" cy="547985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515100" y="3905399"/>
            <a:ext cx="2589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6870502" y="3900636"/>
            <a:ext cx="16616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상세 (사업 요약 · 저니 · 요소 분석)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50050" y="4312593"/>
            <a:ext cx="2286000" cy="322957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6373862" y="4312593"/>
            <a:ext cx="0" cy="322957"/>
          </a:xfrm>
          <a:prstGeom prst="line">
            <a:avLst/>
          </a:prstGeom>
          <a:noFill/>
          <a:ln w="47625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550075" y="4388793"/>
            <a:ext cx="1972247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 — </a:t>
            </a:r>
            <a:r>
              <a:rPr lang="en-US" sz="96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2분</a:t>
            </a:r>
            <a:endParaRPr lang="en-US" sz="960" dirty="0"/>
          </a:p>
        </p:txBody>
      </p:sp>
      <p:sp>
        <p:nvSpPr>
          <p:cNvPr id="63" name="Text 61"/>
          <p:cNvSpPr/>
          <p:nvPr/>
        </p:nvSpPr>
        <p:spPr>
          <a:xfrm>
            <a:off x="507950" y="4810125"/>
            <a:ext cx="42857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8단계(질의 2분) · 7장 발표 15(질의 응답)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341090"/>
            <a:ext cx="3886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Q&amp;A 2분에 펼치는 근거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1547366"/>
            <a:ext cx="38862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7950" y="2360116"/>
            <a:ext cx="381000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3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6분에는 </a:t>
            </a:r>
            <a:r>
              <a:rPr lang="en-US" sz="237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넘기지 않는다</a:t>
            </a:r>
            <a:r>
              <a:rPr lang="en-US" sz="23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질문이 화면 · 원칙 · AI를 가리키면 해당 장으로 바로 간다</a:t>
            </a:r>
            <a:endParaRPr lang="en-US" sz="2370" dirty="0"/>
          </a:p>
        </p:txBody>
      </p:sp>
      <p:sp>
        <p:nvSpPr>
          <p:cNvPr id="6" name="Text 4"/>
          <p:cNvSpPr/>
          <p:nvPr/>
        </p:nvSpPr>
        <p:spPr>
          <a:xfrm>
            <a:off x="4724400" y="1163836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24400" y="1168598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631138" y="1163836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24400" y="1653034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43450" y="1163836"/>
            <a:ext cx="0" cy="493961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89450" y="1262211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· 참조: 데모 및 스크린샷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4889450" y="1401812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화면 캡처 · 빈 · 로딩 · 오류 상태 · 영상 링크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24400" y="1746647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24400" y="1751409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631138" y="1746647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24400" y="2235845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43450" y="1746647"/>
            <a:ext cx="0" cy="493961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89450" y="1845022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· 원칙 카드 P0x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4889450" y="1984623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고친 원칙마다 1장 — 원칙 · 근거 · 적용 · 시연 · 판단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4400" y="2329458"/>
            <a:ext cx="3911501" cy="484436"/>
          </a:xfrm>
          <a:prstGeom prst="roundRect">
            <a:avLst>
              <a:gd name="adj" fmla="val 1573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4400" y="2334220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631138" y="2329458"/>
            <a:ext cx="0" cy="484436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24400" y="2809131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43450" y="2329458"/>
            <a:ext cx="0" cy="484436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89450" y="2427833"/>
            <a:ext cx="36821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· prompt-log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4889450" y="2557909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지문 · 결과 · 내 판단(수용/수정/폐기) · 이유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24400" y="2902744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24400" y="2907506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631138" y="2902744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24400" y="3391942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43450" y="2902744"/>
            <a:ext cx="0" cy="493961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89450" y="3001119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· 자가평가 요약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4889450" y="3140720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전 개인 점검 — 공개 배점 그대로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24400" y="3485555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24400" y="3490317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631138" y="3485555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724400" y="3974753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743450" y="3485555"/>
            <a:ext cx="0" cy="49396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89450" y="3583930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5B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· 기획 상세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4889450" y="3723531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요약 · 저니 · 피쉬본/5 Why · 화면별 요소 분석표 · 상태관리 포인트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950" y="4800600"/>
            <a:ext cx="36909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부록 층: 7주차 덱 부록 A2 · 기준: 중간고사_안내.md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19517" y="4800600"/>
            <a:ext cx="1188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3123" y="304800"/>
            <a:ext cx="1272927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0073" y="342900"/>
            <a:ext cx="103940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B1 · 질의 때만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B1 — 참조: 데모 및 스크린샷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참조: </a:t>
            </a:r>
            <a:r>
              <a:rPr lang="en-US" sz="1900" b="1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화면과 상태 화면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1574899" cy="152400"/>
          </a:xfrm>
          <a:prstGeom prst="roundRect">
            <a:avLst>
              <a:gd name="adj" fmla="val 83333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67110" y="1147911"/>
            <a:ext cx="2615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A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07950" y="1319361"/>
            <a:ext cx="1574899" cy="1448693"/>
          </a:xfrm>
          <a:prstGeom prst="roundRect">
            <a:avLst>
              <a:gd name="adj" fmla="val 701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2806154"/>
            <a:ext cx="1574899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A 무슨 결정? · a_list_screen.dart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46250" y="1128861"/>
            <a:ext cx="1574899" cy="152400"/>
          </a:xfrm>
          <a:prstGeom prst="roundRect">
            <a:avLst>
              <a:gd name="adj" fmla="val 83333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05410" y="1147911"/>
            <a:ext cx="2615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B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2146250" y="1319361"/>
            <a:ext cx="1574899" cy="1448693"/>
          </a:xfrm>
          <a:prstGeom prst="roundRect">
            <a:avLst>
              <a:gd name="adj" fmla="val 701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46250" y="2806154"/>
            <a:ext cx="1574899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B 옵션 탭 · b_detail_screen.dart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784550" y="1128861"/>
            <a:ext cx="1574899" cy="152400"/>
          </a:xfrm>
          <a:prstGeom prst="roundRect">
            <a:avLst>
              <a:gd name="adj" fmla="val 83333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43710" y="1147911"/>
            <a:ext cx="2615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C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3784550" y="1319361"/>
            <a:ext cx="1574899" cy="1448693"/>
          </a:xfrm>
          <a:prstGeom prst="roundRect">
            <a:avLst>
              <a:gd name="adj" fmla="val 701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84550" y="2806154"/>
            <a:ext cx="1574899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B 결정 방식 탭 · b_detail_screen.dart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22850" y="1128861"/>
            <a:ext cx="1574899" cy="152400"/>
          </a:xfrm>
          <a:prstGeom prst="roundRect">
            <a:avLst>
              <a:gd name="adj" fmla="val 83333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82010" y="1147911"/>
            <a:ext cx="548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결정 방식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5422850" y="1319361"/>
            <a:ext cx="1574899" cy="1448693"/>
          </a:xfrm>
          <a:prstGeom prst="roundRect">
            <a:avLst>
              <a:gd name="adj" fmla="val 701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22850" y="2806154"/>
            <a:ext cx="1574899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C 결과 시트 · c_result_sheet.dart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061150" y="1128861"/>
            <a:ext cx="1574899" cy="152400"/>
          </a:xfrm>
          <a:prstGeom prst="roundRect">
            <a:avLst>
              <a:gd name="adj" fmla="val 83333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672983" y="1147911"/>
            <a:ext cx="3581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넓은 화면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7061150" y="1319361"/>
            <a:ext cx="1574899" cy="1448693"/>
          </a:xfrm>
          <a:prstGeom prst="roundRect">
            <a:avLst>
              <a:gd name="adj" fmla="val 701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061150" y="2806154"/>
            <a:ext cx="1574899" cy="2286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A 넓은 화면(≥600dp) 격자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7950" y="3110954"/>
            <a:ext cx="1799332" cy="152400"/>
          </a:xfrm>
          <a:prstGeom prst="roundRect">
            <a:avLst>
              <a:gd name="adj" fmla="val 83333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26356" y="3130004"/>
            <a:ext cx="1657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로딩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07950" y="3301454"/>
            <a:ext cx="1799332" cy="1334095"/>
          </a:xfrm>
          <a:prstGeom prst="roundRect">
            <a:avLst>
              <a:gd name="adj" fmla="val 761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370683" y="3110954"/>
            <a:ext cx="1799332" cy="152400"/>
          </a:xfrm>
          <a:prstGeom prst="roundRect">
            <a:avLst>
              <a:gd name="adj" fmla="val 83333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189089" y="3130004"/>
            <a:ext cx="1657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2370683" y="3301454"/>
            <a:ext cx="1799332" cy="1334095"/>
          </a:xfrm>
          <a:prstGeom prst="roundRect">
            <a:avLst>
              <a:gd name="adj" fmla="val 761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233416" y="3110954"/>
            <a:ext cx="1799332" cy="152400"/>
          </a:xfrm>
          <a:prstGeom prst="roundRect">
            <a:avLst>
              <a:gd name="adj" fmla="val 83333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998095" y="3130004"/>
            <a:ext cx="27522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상태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4233416" y="3301454"/>
            <a:ext cx="1799332" cy="1334095"/>
          </a:xfrm>
          <a:prstGeom prst="roundRect">
            <a:avLst>
              <a:gd name="adj" fmla="val 761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096149" y="3110954"/>
            <a:ext cx="259069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· 링크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6096149" y="3272879"/>
            <a:ext cx="2539901" cy="136267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데모 1분: docs/영상/demo.mp4 (10장에 삽입)</a:t>
            </a:r>
            <a:endParaRPr lang="en-US" sz="800" dirty="0"/>
          </a:p>
          <a:p>
            <a:r>
              <a:rPr sz="750" b="0">
                <a:solidFill>
                  <a:srgbClr val="16202E"/>
                </a:solidFill>
                <a:latin typeface="Arial"/>
              </a:rPr>
              <a:t>저장소: github.com/mincaiw/Choose-for-u</a:t>
            </a:r>
          </a:p>
        </p:txBody>
      </p:sp>
      <p:sp>
        <p:nvSpPr>
          <p:cNvPr id="60" name="Text 58"/>
          <p:cNvSpPr/>
          <p:nvPr/>
        </p:nvSpPr>
        <p:spPr>
          <a:xfrm>
            <a:off x="507950" y="4810125"/>
            <a:ext cx="456370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6단계(로딩/오류/빈 상태 · 적응형) · 6장 제출물 ①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680" dirty="0"/>
          </a:p>
        </p:txBody>
      </p:sp>
      <p:pic>
        <p:nvPicPr>
          <p:cNvPr id="62" name="Picture 61" descr="01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91" y="1355937"/>
            <a:ext cx="635617" cy="1375541"/>
          </a:xfrm>
          <a:prstGeom prst="rect">
            <a:avLst/>
          </a:prstGeom>
        </p:spPr>
      </p:pic>
      <p:pic>
        <p:nvPicPr>
          <p:cNvPr id="63" name="Picture 62" descr="02_B_op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891" y="1355937"/>
            <a:ext cx="635617" cy="1375541"/>
          </a:xfrm>
          <a:prstGeom prst="rect">
            <a:avLst/>
          </a:prstGeom>
        </p:spPr>
      </p:pic>
      <p:pic>
        <p:nvPicPr>
          <p:cNvPr id="64" name="Picture 63" descr="05_C_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191" y="1355937"/>
            <a:ext cx="635617" cy="1375541"/>
          </a:xfrm>
          <a:prstGeom prst="rect">
            <a:avLst/>
          </a:prstGeom>
        </p:spPr>
      </p:pic>
      <p:pic>
        <p:nvPicPr>
          <p:cNvPr id="65" name="Picture 64" descr="03_B_gam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491" y="1355937"/>
            <a:ext cx="635617" cy="1375541"/>
          </a:xfrm>
          <a:prstGeom prst="rect">
            <a:avLst/>
          </a:prstGeom>
        </p:spPr>
      </p:pic>
      <p:pic>
        <p:nvPicPr>
          <p:cNvPr id="66" name="Picture 65" descr="09_wide_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7726" y="1574412"/>
            <a:ext cx="1501747" cy="938591"/>
          </a:xfrm>
          <a:prstGeom prst="rect">
            <a:avLst/>
          </a:prstGeom>
        </p:spPr>
      </p:pic>
      <p:pic>
        <p:nvPicPr>
          <p:cNvPr id="67" name="Picture 66" descr="11_loa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284" y="3338030"/>
            <a:ext cx="582663" cy="1260943"/>
          </a:xfrm>
          <a:prstGeom prst="rect">
            <a:avLst/>
          </a:prstGeom>
        </p:spPr>
      </p:pic>
      <p:pic>
        <p:nvPicPr>
          <p:cNvPr id="68" name="Picture 67" descr="12_err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9017" y="3338030"/>
            <a:ext cx="582663" cy="1260943"/>
          </a:xfrm>
          <a:prstGeom prst="rect">
            <a:avLst/>
          </a:prstGeom>
        </p:spPr>
      </p:pic>
      <p:pic>
        <p:nvPicPr>
          <p:cNvPr id="69" name="Picture 68" descr="13_emp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1750" y="3338030"/>
            <a:ext cx="582663" cy="12609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P0x마다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P0x (고친 원칙마다 1장)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54864" tIns="36576" rIns="54864" bIns="27432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sz="1900" b="0">
                <a:solidFill>
                  <a:srgbClr val="16202E"/>
                </a:solidFill>
                <a:latin typeface="Arial"/>
              </a:rPr>
              <a:t>원칙 카드 P05 — 오류 예방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5511998" cy="3506688"/>
          </a:xfrm>
          <a:prstGeom prst="roundRect">
            <a:avLst>
              <a:gd name="adj" fmla="val 2535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138386"/>
            <a:ext cx="5492948" cy="269677"/>
          </a:xfrm>
          <a:prstGeom prst="rect">
            <a:avLst/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1201787"/>
            <a:ext cx="675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6187" y="1201787"/>
            <a:ext cx="16598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5칸: 원칙 · 근거 · 적용 · 시연 · 판단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7475" y="1412825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7475" y="1417588"/>
            <a:ext cx="863352" cy="634008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663154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0827" y="1417588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16202E"/>
                </a:solidFill>
                <a:latin typeface="Arial"/>
              </a:rPr>
              <a:t>P05 오류 예방 (Error prevention)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7475" y="2056358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7475" y="2061121"/>
            <a:ext cx="863352" cy="634157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976" y="2306687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0827" y="2061121"/>
            <a:ext cx="4629596" cy="6341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현행: 결과 화면은 결과 + 다시 돌리기뿐 · "not that random"(★1, 2021-11-13 · 리뷰 #2) → 못 믿고 계속 돌린다 (유형 ③ · 저니 5단계)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7475" y="2700040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7475" y="2704802"/>
            <a:ext cx="863352" cy="634008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2950369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80827" y="2704802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C 결과 시트 · C-8 OutlinedButton 「🎲 다시」 3번째부터 STOP 배너 · C-7 잠그면 다시 비활성 · B-8 옵션 없으면 「골라줘!」 비활성 — // C-8 P05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7475" y="3343573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7475" y="3348335"/>
            <a:ext cx="863352" cy="634157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8976" y="3593902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80827" y="3348335"/>
            <a:ext cx="4629596" cy="6341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p05.mp4 — 다시 2번 → STOP 배너 → 결정 잠금 → 다시 비활성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7475" y="3987254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7475" y="3992017"/>
            <a:ext cx="863352" cy="634008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8976" y="4237583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80827" y="3992017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대안 "하루 3번 제한" → 버림: 영구 저장 필요(감점) + P03 자유 침해. 막지 않고 말린다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6899" y="1128861"/>
            <a:ext cx="2489150" cy="172164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46899" y="2913906"/>
            <a:ext cx="2489150" cy="172164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pic>
        <p:nvPicPr>
          <p:cNvPr id="44" name="Picture 43" descr="07_C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602" y="2950482"/>
            <a:ext cx="761743" cy="1648492"/>
          </a:xfrm>
          <a:prstGeom prst="rect">
            <a:avLst/>
          </a:prstGeom>
        </p:spPr>
      </p:pic>
      <p:pic>
        <p:nvPicPr>
          <p:cNvPr id="45" name="Picture 44" descr="v1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348" y="1165437"/>
            <a:ext cx="760251" cy="16484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3942" y="304800"/>
            <a:ext cx="672108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90892" y="342900"/>
            <a:ext cx="42657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B3 — prompt-log (AI 지문과 판정)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prompt-log: </a:t>
            </a:r>
            <a:r>
              <a:rPr lang="en-US" sz="1900" b="1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맡긴 일과 나의 판단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5587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0876" y="1163687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057126" y="1128861"/>
            <a:ext cx="2079278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30052" y="1163687"/>
            <a:ext cx="631052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(지문 요약)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3126879" y="1128861"/>
            <a:ext cx="1827014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9805" y="1163687"/>
            <a:ext cx="296171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결과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944368" y="1128861"/>
            <a:ext cx="7873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17294" y="1163687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5722144" y="1128861"/>
            <a:ext cx="241548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95070" y="1163687"/>
            <a:ext cx="123174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 (안내문 · 원칙 · 리뷰 근거)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8128099" y="1128861"/>
            <a:ext cx="5079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01025" y="1163687"/>
            <a:ext cx="236056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P번호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07950" y="1314450"/>
            <a:ext cx="5587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0876" y="1349276"/>
            <a:ext cx="22694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10/28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57126" y="1314450"/>
            <a:ext cx="2079278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"선택장애용 골라줘로 템플릿 reskin — GET만 · 3화면 · 3상태 · 600dp · P번호"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26879" y="1314450"/>
            <a:ext cx="1827014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상황 목록 · 옵션/방식 탭 · 결과 모달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44368" y="1314450"/>
            <a:ext cx="7873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17294" y="1349276"/>
            <a:ext cx="52084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722144" y="1314450"/>
            <a:ext cx="241548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전환 3방식과 맞음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28099" y="1314450"/>
            <a:ext cx="50795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01025" y="1349276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07950" y="1832670"/>
            <a:ext cx="558701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0876" y="1867495"/>
            <a:ext cx="22694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10/29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57126" y="1832670"/>
            <a:ext cx="2079278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"랜덤 picker 말고 Decision Game으로 전부 다시" (FEEL→FIGHT→REVEAL→LOCK)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26879" y="1832670"/>
            <a:ext cx="1827014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4단계를 B-2 · B-6 · C-3/4 · C-7에 대응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44368" y="1832670"/>
            <a:ext cx="787301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17294" y="1867495"/>
            <a:ext cx="52084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722144" y="1832670"/>
            <a:ext cx="2415480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AI 엔진 · 커플 모드 · 일기는 감점 항목 → v3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28099" y="1832670"/>
            <a:ext cx="507950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01025" y="1867495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7950" y="2351038"/>
            <a:ext cx="5587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0876" y="2385864"/>
            <a:ext cx="22694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10/29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57126" y="2351038"/>
            <a:ext cx="2079278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"결정 방식: 듀얼 · 토너먼트 · 랜덤 · 스와이프" (내 처음 안)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26879" y="2351038"/>
            <a:ext cx="1827014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스와이프 → 하나씩 지우기, 랜덤 → 가짜 랜덤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44368" y="2351038"/>
            <a:ext cx="7873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17294" y="2385864"/>
            <a:ext cx="52084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22144" y="2351038"/>
            <a:ext cx="241548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진짜 랜덤은 감점 소지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128099" y="2351038"/>
            <a:ext cx="50795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01025" y="2385864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7950" y="2869257"/>
            <a:ext cx="5587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0876" y="2904083"/>
            <a:ext cx="22694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10/29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57126" y="2869257"/>
            <a:ext cx="2079278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"이 설계의 약점을 닐슨 원칙으로 반박해 줘"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126879" y="2869257"/>
            <a:ext cx="1827014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반론 5개 (셀프논증.md)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944368" y="2869257"/>
            <a:ext cx="7873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17294" y="2904083"/>
            <a:ext cx="52084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722144" y="2869257"/>
            <a:ext cx="241548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셀프 논증 근거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28099" y="2869257"/>
            <a:ext cx="50795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01025" y="2904083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07950" y="3387477"/>
            <a:ext cx="5587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80876" y="3422303"/>
            <a:ext cx="22694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10/29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57126" y="3387477"/>
            <a:ext cx="2079278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"결정 잠금을 24시간 유지하고 싶다" (내 처음 안)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126879" y="3387477"/>
            <a:ext cx="1827014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영구 저장은 감점 → STATE 주석만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44368" y="3387477"/>
            <a:ext cx="7873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17294" y="3422303"/>
            <a:ext cx="52084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722144" y="3387477"/>
            <a:ext cx="241548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안내문 5장 · AGENTS.md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128099" y="3387477"/>
            <a:ext cx="50795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01025" y="3422303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07950" y="3905696"/>
            <a:ext cx="5587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80876" y="3940522"/>
            <a:ext cx="22694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10/29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057126" y="3905696"/>
            <a:ext cx="2079278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"다시는 진짜 랜덤으로?"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126879" y="3905696"/>
            <a:ext cx="1827014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db.json pick:true + 순서대로 다음 + C-9 고지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944368" y="3905696"/>
            <a:ext cx="78730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17294" y="3940522"/>
            <a:ext cx="52084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722144" y="3905696"/>
            <a:ext cx="241548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임의 결과 허용 범위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128099" y="3905696"/>
            <a:ext cx="50795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201025" y="3940522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07950" y="4496842"/>
            <a:ext cx="8290661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— 수용: 그대로 씀 · 수정: 고쳐서 씀(무엇을 고쳤는지) · 폐기: 버림(감점 항목 · 기획에 없는 화면 등). 저장소 docs/prompt-log.md와 같은 내용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507950" y="4810125"/>
            <a:ext cx="546451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8장 FAQ("지문과 판정 결과를 기획 문서에 남긴다") · 5장 허용/감점 · 7주차 덱 부록 A5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4295" y="304800"/>
            <a:ext cx="1421755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41245" y="342900"/>
            <a:ext cx="119121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B4 · 제출 전 점검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B4 — 자가평가 요약 (개인 점검용)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자가평가: </a:t>
            </a:r>
            <a:r>
              <a:rPr lang="en-US" sz="1900" b="1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배점 그대로, 근거 위치가 빈 줄을 채운다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736550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0876" y="1167705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234976" y="1128861"/>
            <a:ext cx="1498550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7902" y="1167705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2724001" y="1128861"/>
            <a:ext cx="558701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19859" y="1167705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배점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273177" y="1128861"/>
            <a:ext cx="3553271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46103" y="1167705"/>
            <a:ext cx="913864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확인할 것 (안내문 문구)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6816923" y="1128861"/>
            <a:ext cx="1168301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89849" y="1167705"/>
            <a:ext cx="36797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위치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7975699" y="1128861"/>
            <a:ext cx="660350" cy="20315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48625" y="1167705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07950" y="1322487"/>
            <a:ext cx="736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0876" y="1407021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234976" y="1322487"/>
            <a:ext cx="1498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07902" y="1407021"/>
            <a:ext cx="80137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 · 리뷰 근거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2724001" y="1322487"/>
            <a:ext cx="558701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51113" y="1407021"/>
            <a:ext cx="10656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3273177" y="1322487"/>
            <a:ext cx="3553271" cy="291108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46103" y="1408658"/>
            <a:ext cx="2298171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잘된 점 원칙 번호 · 별점 분포 · 인용(날짜 · 별점) · 유형별 분류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816923" y="1322487"/>
            <a:ext cx="1168301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05장 · docs/기획.md 1장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75699" y="1322487"/>
            <a:ext cx="660350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8625" y="1410295"/>
            <a:ext cx="27734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7950" y="1604070"/>
            <a:ext cx="736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34976" y="1604070"/>
            <a:ext cx="1498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07902" y="1688604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요약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2724001" y="1604070"/>
            <a:ext cx="558701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977158" y="1688604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273177" y="1604070"/>
            <a:ext cx="3553271" cy="291257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46103" y="1690241"/>
            <a:ext cx="144502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· 퍼소나 · 문제 · v2 핵심 가치 1쪽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816923" y="1604070"/>
            <a:ext cx="1168301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03장 · B5-1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75699" y="1604070"/>
            <a:ext cx="660350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48625" y="1691878"/>
            <a:ext cx="22679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07950" y="1885801"/>
            <a:ext cx="736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234976" y="1885801"/>
            <a:ext cx="1498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07902" y="1970336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저니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724001" y="1885801"/>
            <a:ext cx="558701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977158" y="1970336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273177" y="1885801"/>
            <a:ext cx="3553271" cy="291108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46103" y="1971973"/>
            <a:ext cx="158848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· 단계별 리뷰 · 감정 최저점 · 확장 4줄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6816923" y="1885801"/>
            <a:ext cx="1168301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06장 · B5-2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975699" y="1885801"/>
            <a:ext cx="660350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048625" y="1973610"/>
            <a:ext cx="22679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7950" y="2167384"/>
            <a:ext cx="736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234976" y="2167384"/>
            <a:ext cx="1498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307902" y="2251918"/>
            <a:ext cx="615872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피쉬본 · 5 Why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724001" y="2167384"/>
            <a:ext cx="558701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977158" y="2251918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3273177" y="2167384"/>
            <a:ext cx="3553271" cy="291257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346103" y="2253555"/>
            <a:ext cx="150559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여섯 시각 · 우선순위 1개 · 근본 원인까지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6816923" y="2167384"/>
            <a:ext cx="1168301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06장 · B5-3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975699" y="2167384"/>
            <a:ext cx="660350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048625" y="2255193"/>
            <a:ext cx="22679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07950" y="2449116"/>
            <a:ext cx="736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234976" y="2449116"/>
            <a:ext cx="1498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307902" y="2533650"/>
            <a:ext cx="1052158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요소 분석 · 기준 · 가이드 글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2724001" y="2449116"/>
            <a:ext cx="558701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2977158" y="2533650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3273177" y="2449116"/>
            <a:ext cx="3553271" cy="291108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346103" y="2535287"/>
            <a:ext cx="1510760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 · 위젯명 · 비즈니스 명칭 · 명칭 일관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6816923" y="2449116"/>
            <a:ext cx="1168301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07장 · B5-4 (A · C)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975699" y="2449116"/>
            <a:ext cx="660350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048625" y="2536924"/>
            <a:ext cx="22679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07950" y="2730698"/>
            <a:ext cx="736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234976" y="2730698"/>
            <a:ext cx="1498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307902" y="2815233"/>
            <a:ext cx="799100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상태관리 포인트 명시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2724001" y="2730698"/>
            <a:ext cx="558701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2977158" y="2815233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3273177" y="2730698"/>
            <a:ext cx="3553271" cy="291257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3346103" y="2816870"/>
            <a:ext cx="151819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바뀌는 데이터 → 화면 · 위젯 · 구현 안 함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6816923" y="2730698"/>
            <a:ext cx="1168301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07장 · B5-5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975699" y="2730698"/>
            <a:ext cx="660350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048625" y="2818507"/>
            <a:ext cx="22679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07950" y="3012430"/>
            <a:ext cx="736550" cy="307181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580876" y="3105001"/>
            <a:ext cx="550444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 기록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1234976" y="3012430"/>
            <a:ext cx="1498550" cy="307181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307902" y="3105001"/>
            <a:ext cx="918418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주장 · 반론 · 결론 · 전후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724001" y="3012430"/>
            <a:ext cx="558701" cy="307181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2951113" y="3105001"/>
            <a:ext cx="10656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3273177" y="3012430"/>
            <a:ext cx="3553271" cy="307181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3346103" y="3047256"/>
            <a:ext cx="3407420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69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쟁점마다 내 주장과 반론(AI 반론 포함) · 재반론과 결론(유지 · 수정 · 폐기) · 근거(P번호 · 리뷰) · 전 · 후 · prompt-log · 원칙 카드와 일치</a:t>
            </a:r>
            <a:endParaRPr lang="en-US" sz="690" dirty="0"/>
          </a:p>
        </p:txBody>
      </p:sp>
      <p:sp>
        <p:nvSpPr>
          <p:cNvPr id="94" name="Text 92"/>
          <p:cNvSpPr/>
          <p:nvPr/>
        </p:nvSpPr>
        <p:spPr>
          <a:xfrm>
            <a:off x="6816923" y="3012430"/>
            <a:ext cx="1168301" cy="3071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08장 · B3 · 셀프논증.md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975699" y="3012430"/>
            <a:ext cx="660350" cy="307181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048625" y="3108275"/>
            <a:ext cx="27734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507950" y="3310086"/>
            <a:ext cx="736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580876" y="3394621"/>
            <a:ext cx="28827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구현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1234976" y="3310086"/>
            <a:ext cx="1498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1307902" y="3394621"/>
            <a:ext cx="1054435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일치 · 기능 · 3상태 · 적응형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2724001" y="3310086"/>
            <a:ext cx="558701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2951113" y="3394621"/>
            <a:ext cx="10656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40" dirty="0"/>
          </a:p>
        </p:txBody>
      </p:sp>
      <p:sp>
        <p:nvSpPr>
          <p:cNvPr id="104" name="Text 102"/>
          <p:cNvSpPr/>
          <p:nvPr/>
        </p:nvSpPr>
        <p:spPr>
          <a:xfrm>
            <a:off x="3273177" y="3310086"/>
            <a:ext cx="3553271" cy="291108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3346103" y="3396258"/>
            <a:ext cx="251115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명칭 · 원칙 일치 · 전환 · 임의 결과 · GET · 로딩/오류/빈 · 넓은 화면</a:t>
            </a:r>
            <a:endParaRPr lang="en-US" sz="720" dirty="0"/>
          </a:p>
        </p:txBody>
      </p:sp>
      <p:sp>
        <p:nvSpPr>
          <p:cNvPr id="106" name="Text 104"/>
          <p:cNvSpPr/>
          <p:nvPr/>
        </p:nvSpPr>
        <p:spPr>
          <a:xfrm>
            <a:off x="6816923" y="3310086"/>
            <a:ext cx="1168301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09–10장 · lib/screens/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975699" y="3310086"/>
            <a:ext cx="660350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048625" y="3397895"/>
            <a:ext cx="27734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507950" y="3591669"/>
            <a:ext cx="736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580876" y="3676204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</a:t>
            </a:r>
            <a:endParaRPr lang="en-US" sz="740" dirty="0"/>
          </a:p>
        </p:txBody>
      </p:sp>
      <p:sp>
        <p:nvSpPr>
          <p:cNvPr id="112" name="Text 110"/>
          <p:cNvSpPr/>
          <p:nvPr/>
        </p:nvSpPr>
        <p:spPr>
          <a:xfrm>
            <a:off x="1234976" y="3591669"/>
            <a:ext cx="1498550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1307902" y="3676204"/>
            <a:ext cx="6378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6분 · 데모 · 질의</a:t>
            </a:r>
            <a:endParaRPr lang="en-US" sz="740" dirty="0"/>
          </a:p>
        </p:txBody>
      </p:sp>
      <p:sp>
        <p:nvSpPr>
          <p:cNvPr id="114" name="Text 112"/>
          <p:cNvSpPr/>
          <p:nvPr/>
        </p:nvSpPr>
        <p:spPr>
          <a:xfrm>
            <a:off x="2724001" y="3591669"/>
            <a:ext cx="558701" cy="29125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2951113" y="3676204"/>
            <a:ext cx="10656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40" dirty="0"/>
          </a:p>
        </p:txBody>
      </p:sp>
      <p:sp>
        <p:nvSpPr>
          <p:cNvPr id="116" name="Text 114"/>
          <p:cNvSpPr/>
          <p:nvPr/>
        </p:nvSpPr>
        <p:spPr>
          <a:xfrm>
            <a:off x="3273177" y="3591669"/>
            <a:ext cx="3553271" cy="291257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15"/>
          <p:cNvSpPr/>
          <p:nvPr/>
        </p:nvSpPr>
        <p:spPr>
          <a:xfrm>
            <a:off x="3346103" y="3677841"/>
            <a:ext cx="1851410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리허설 6분 이내 · 데모 · 질의 2분에 부록으로 답함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6816923" y="3591669"/>
            <a:ext cx="1168301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발표대본.md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7975699" y="3591669"/>
            <a:ext cx="660350" cy="29125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8048625" y="3679478"/>
            <a:ext cx="27734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/ 15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07950" y="3873401"/>
            <a:ext cx="736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21"/>
          <p:cNvSpPr/>
          <p:nvPr/>
        </p:nvSpPr>
        <p:spPr>
          <a:xfrm>
            <a:off x="580876" y="3957935"/>
            <a:ext cx="416704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가산 · 감점</a:t>
            </a:r>
            <a:endParaRPr lang="en-US" sz="740" dirty="0"/>
          </a:p>
        </p:txBody>
      </p:sp>
      <p:sp>
        <p:nvSpPr>
          <p:cNvPr id="124" name="Text 122"/>
          <p:cNvSpPr/>
          <p:nvPr/>
        </p:nvSpPr>
        <p:spPr>
          <a:xfrm>
            <a:off x="1234976" y="3873401"/>
            <a:ext cx="1498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123"/>
          <p:cNvSpPr/>
          <p:nvPr/>
        </p:nvSpPr>
        <p:spPr>
          <a:xfrm>
            <a:off x="1307902" y="3957935"/>
            <a:ext cx="725626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· 감점 항목</a:t>
            </a:r>
            <a:endParaRPr lang="en-US" sz="740" dirty="0"/>
          </a:p>
        </p:txBody>
      </p:sp>
      <p:sp>
        <p:nvSpPr>
          <p:cNvPr id="126" name="Text 124"/>
          <p:cNvSpPr/>
          <p:nvPr/>
        </p:nvSpPr>
        <p:spPr>
          <a:xfrm>
            <a:off x="2724001" y="3873401"/>
            <a:ext cx="558701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2857054" y="3957935"/>
            <a:ext cx="298296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/ −5</a:t>
            </a:r>
            <a:endParaRPr lang="en-US" sz="740" dirty="0"/>
          </a:p>
        </p:txBody>
      </p:sp>
      <p:sp>
        <p:nvSpPr>
          <p:cNvPr id="128" name="Text 126"/>
          <p:cNvSpPr/>
          <p:nvPr/>
        </p:nvSpPr>
        <p:spPr>
          <a:xfrm>
            <a:off x="3273177" y="3873401"/>
            <a:ext cx="3553271" cy="291108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9" name="Text 127"/>
          <p:cNvSpPr/>
          <p:nvPr/>
        </p:nvSpPr>
        <p:spPr>
          <a:xfrm>
            <a:off x="3346103" y="3959572"/>
            <a:ext cx="162370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URL(선택) · 감점 항목 없음(최대 −15)</a:t>
            </a:r>
            <a:endParaRPr lang="en-US" sz="720" dirty="0"/>
          </a:p>
        </p:txBody>
      </p:sp>
      <p:sp>
        <p:nvSpPr>
          <p:cNvPr id="130" name="Text 128"/>
          <p:cNvSpPr/>
          <p:nvPr/>
        </p:nvSpPr>
        <p:spPr>
          <a:xfrm>
            <a:off x="6816923" y="3873401"/>
            <a:ext cx="1168301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grep 결과 0줄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7975699" y="3873401"/>
            <a:ext cx="660350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8048625" y="3961209"/>
            <a:ext cx="33275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+0 −0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07950" y="4154984"/>
            <a:ext cx="736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5" name="Text 133"/>
          <p:cNvSpPr/>
          <p:nvPr/>
        </p:nvSpPr>
        <p:spPr>
          <a:xfrm>
            <a:off x="580876" y="4239518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</a:t>
            </a:r>
            <a:endParaRPr lang="en-US" sz="740" dirty="0"/>
          </a:p>
        </p:txBody>
      </p:sp>
      <p:sp>
        <p:nvSpPr>
          <p:cNvPr id="136" name="Text 134"/>
          <p:cNvSpPr/>
          <p:nvPr/>
        </p:nvSpPr>
        <p:spPr>
          <a:xfrm>
            <a:off x="1234976" y="4154984"/>
            <a:ext cx="1498550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7" name="Text 135"/>
          <p:cNvSpPr/>
          <p:nvPr/>
        </p:nvSpPr>
        <p:spPr>
          <a:xfrm>
            <a:off x="2724001" y="4154984"/>
            <a:ext cx="558701" cy="29110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Text 136"/>
          <p:cNvSpPr/>
          <p:nvPr/>
        </p:nvSpPr>
        <p:spPr>
          <a:xfrm>
            <a:off x="2924919" y="4239518"/>
            <a:ext cx="159850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40" dirty="0"/>
          </a:p>
        </p:txBody>
      </p:sp>
      <p:sp>
        <p:nvSpPr>
          <p:cNvPr id="139" name="Text 137"/>
          <p:cNvSpPr/>
          <p:nvPr/>
        </p:nvSpPr>
        <p:spPr>
          <a:xfrm>
            <a:off x="3273177" y="4154984"/>
            <a:ext cx="3553271" cy="291108"/>
          </a:xfrm>
          <a:prstGeom prst="rect">
            <a:avLst/>
          </a:prstGeom>
          <a:solidFill>
            <a:srgbClr val="FBFCF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138"/>
          <p:cNvSpPr/>
          <p:nvPr/>
        </p:nvSpPr>
        <p:spPr>
          <a:xfrm>
            <a:off x="3346103" y="4241155"/>
            <a:ext cx="1235387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가산 · 감점 반영 전후 모두 적는다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6816923" y="4154984"/>
            <a:ext cx="1168301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7975699" y="4154984"/>
            <a:ext cx="660350" cy="2911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8048625" y="4242792"/>
            <a:ext cx="32774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≈90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507950" y="4496842"/>
            <a:ext cx="8290661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점수는 안내문 7장 배점 안에서 강사가 매긴다 — 이 표는 빠진 칸을 찾는 점검 도구이며 새 점수 규칙이 아니다 (7주차 덱 41장 · 부록 A3과 같은 배점)</a:t>
            </a:r>
            <a:endParaRPr lang="en-US" sz="780" dirty="0"/>
          </a:p>
        </p:txBody>
      </p:sp>
      <p:sp>
        <p:nvSpPr>
          <p:cNvPr id="145" name="Text 143"/>
          <p:cNvSpPr/>
          <p:nvPr/>
        </p:nvSpPr>
        <p:spPr>
          <a:xfrm>
            <a:off x="507950" y="4810125"/>
            <a:ext cx="357727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7장 평가(배점 그대로) · 5장 감점</a:t>
            </a:r>
            <a:endParaRPr lang="en-US" sz="680" dirty="0"/>
          </a:p>
        </p:txBody>
      </p:sp>
      <p:sp>
        <p:nvSpPr>
          <p:cNvPr id="146" name="Text 144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B5-1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B5-1 — 기획 상세: 사업 요약 1쪽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요약: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비교만 하는 20대의 결정을 탭 3번에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409994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07950" y="1290786"/>
            <a:ext cx="4019550" cy="1553319"/>
          </a:xfrm>
          <a:prstGeom prst="roundRect">
            <a:avLst>
              <a:gd name="adj" fmla="val 327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1100" b="1">
                <a:solidFill>
                  <a:srgbClr val="16202E"/>
                </a:solidFill>
                <a:latin typeface="Arial"/>
              </a:rPr>
              <a:t>고민 시작 → 결정 확정까지 탭 수 7+ → 3</a:t>
            </a:r>
            <a:endParaRPr lang="en-US" sz="900" dirty="0"/>
          </a:p>
          <a:p>
            <a:r>
              <a:rPr sz="1100" b="1">
                <a:solidFill>
                  <a:srgbClr val="16202E"/>
                </a:solidFill>
                <a:latin typeface="Arial"/>
              </a:rPr>
              <a:t>(A 카드 → 골라줘! → 결정 잠금) · 옵션 입력 4번 → 0번</a:t>
            </a:r>
          </a:p>
        </p:txBody>
      </p:sp>
      <p:sp>
        <p:nvSpPr>
          <p:cNvPr id="10" name="Text 8"/>
          <p:cNvSpPr/>
          <p:nvPr/>
        </p:nvSpPr>
        <p:spPr>
          <a:xfrm>
            <a:off x="4616351" y="1128861"/>
            <a:ext cx="1219200" cy="1715244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 lIns="54864" rIns="54864" tIns="36576" bIns="27432"/>
          <a:lstStyle/>
          <a:p>
            <a:pPr marL="0" indent="0" algn="ctr">
              <a:buNone/>
            </a:pPr>
            <a:r>
              <a:rPr sz="3000" b="0">
                <a:solidFill>
                  <a:srgbClr val="16202E"/>
                </a:solidFill>
                <a:latin typeface="Arial"/>
              </a:rPr>
              <a:t>🙋‍♀️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24401" y="1128861"/>
            <a:ext cx="276588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사용자 (퍼소나)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5924401" y="1290786"/>
            <a:ext cx="2711648" cy="1553319"/>
          </a:xfrm>
          <a:prstGeom prst="roundRect">
            <a:avLst>
              <a:gd name="adj" fmla="val 327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0">
                <a:solidFill>
                  <a:srgbClr val="16202E"/>
                </a:solidFill>
                <a:latin typeface="Arial"/>
              </a:rPr>
              <a:t>민지 (22, 대학생)</a:t>
            </a:r>
            <a:endParaRPr lang="en-US" sz="900" dirty="0"/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점심마다 "아무거나"라고 하고 10분을 고민한다</a:t>
            </a:r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폰 사용 · 랜덤 휠 앱을 깔았지만 결과가 마음에 안 들면 계속 다시 돌린다</a:t>
            </a:r>
          </a:p>
          <a:p>
            <a:r>
              <a:rPr sz="850" b="0">
                <a:solidFill>
                  <a:srgbClr val="16202E"/>
                </a:solidFill>
                <a:latin typeface="Arial"/>
              </a:rPr>
              <a:t>불편: 입력이 귀찮고, 결과를 믿지 못한다</a:t>
            </a:r>
          </a:p>
        </p:txBody>
      </p:sp>
      <p:sp>
        <p:nvSpPr>
          <p:cNvPr id="16" name="Text 14"/>
          <p:cNvSpPr/>
          <p:nvPr/>
        </p:nvSpPr>
        <p:spPr>
          <a:xfrm>
            <a:off x="507950" y="2920305"/>
            <a:ext cx="409994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해결할 문제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07950" y="3082230"/>
            <a:ext cx="4019550" cy="1553319"/>
          </a:xfrm>
          <a:prstGeom prst="roundRect">
            <a:avLst>
              <a:gd name="adj" fmla="val 327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900" b="0">
                <a:solidFill>
                  <a:srgbClr val="16202E"/>
                </a:solidFill>
                <a:latin typeface="Arial"/>
              </a:rPr>
              <a:t>리뷰 #1(유형 ① 입력 부담) · #2(유형 ③ 결과 수용 실패)</a:t>
            </a:r>
            <a:endParaRPr lang="en-US" sz="900" dirty="0"/>
          </a:p>
          <a:p>
            <a:r>
              <a:rPr sz="900" b="0">
                <a:solidFill>
                  <a:srgbClr val="16202E"/>
                </a:solidFill>
                <a:latin typeface="Arial"/>
              </a:rPr>
              <a:t>저니 감정 최저점: 4단계 "결과 확인" (−2)</a:t>
            </a:r>
          </a:p>
          <a:p>
            <a:r>
              <a:rPr sz="900" b="0">
                <a:solidFill>
                  <a:srgbClr val="16202E"/>
                </a:solidFill>
                <a:latin typeface="Arial"/>
              </a:rPr>
              <a:t>근본 원인(B5-3): 결과를 받아들이고 멈추는 단계가 없다</a:t>
            </a:r>
          </a:p>
        </p:txBody>
      </p:sp>
      <p:sp>
        <p:nvSpPr>
          <p:cNvPr id="19" name="Text 17"/>
          <p:cNvSpPr/>
          <p:nvPr/>
        </p:nvSpPr>
        <p:spPr>
          <a:xfrm>
            <a:off x="4616351" y="2920305"/>
            <a:ext cx="41000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v2의 핵심 가치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616351" y="3082230"/>
            <a:ext cx="4019699" cy="1553319"/>
          </a:xfrm>
          <a:prstGeom prst="roundRect">
            <a:avLst>
              <a:gd name="adj" fmla="val 327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900" b="0">
                <a:solidFill>
                  <a:srgbClr val="16202E"/>
                </a:solidFill>
                <a:latin typeface="Arial"/>
              </a:rPr>
              <a:t>"결정을 대신해 주는 앱"이 아니라 "결정을 끝내게 해 주는 게임"</a:t>
            </a:r>
            <a:endParaRPr lang="en-US" sz="900" dirty="0"/>
          </a:p>
          <a:p>
            <a:r>
              <a:rPr sz="900" b="0">
                <a:solidFill>
                  <a:srgbClr val="16202E"/>
                </a:solidFill>
                <a:latin typeface="Arial"/>
              </a:rPr>
              <a:t>화면: C 결과 시트 — C-5 수용 카피 · C-6 후회 테스트 · C-7 결정 잠금</a:t>
            </a:r>
          </a:p>
          <a:p>
            <a:r>
              <a:rPr sz="900" b="0">
                <a:solidFill>
                  <a:srgbClr val="16202E"/>
                </a:solidFill>
                <a:latin typeface="Arial"/>
              </a:rPr>
              <a:t>원칙: P05 · P06 · P07</a:t>
            </a:r>
          </a:p>
        </p:txBody>
      </p:sp>
      <p:sp>
        <p:nvSpPr>
          <p:cNvPr id="22" name="Text 20"/>
          <p:cNvSpPr/>
          <p:nvPr/>
        </p:nvSpPr>
        <p:spPr>
          <a:xfrm>
            <a:off x="507950" y="4810125"/>
            <a:ext cx="390472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2단계 · 7장 기획 "사업 요약 5"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B5-1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B5-2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B5-2 — 기획 상세: 사용자 저니 전체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저니: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최저점은 4단계 "결과 확인"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409994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07950" y="1290786"/>
            <a:ext cx="4019550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900" b="1">
                <a:solidFill>
                  <a:srgbClr val="16202E"/>
                </a:solidFill>
                <a:latin typeface="Arial"/>
              </a:rPr>
              <a:t>점심 메뉴를 3분 안에 정한다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16351" y="1128861"/>
            <a:ext cx="41000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최저점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4616351" y="1290786"/>
            <a:ext cx="401969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4단계 결과 확인 · 이유 없는 랜덤이라 의심만 남음 (리뷰 #2) · 어긴 원칙 P10 · P05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1633538"/>
            <a:ext cx="13969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0876" y="1668363"/>
            <a:ext cx="296171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 →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895326" y="1633538"/>
            <a:ext cx="1355675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68252" y="1668363"/>
            <a:ext cx="1097280" cy="12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고민 시작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3241477" y="1633538"/>
            <a:ext cx="1355824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14402" y="1668363"/>
            <a:ext cx="1097280" cy="12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옵션 입력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4587776" y="1633538"/>
            <a:ext cx="1355675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60702" y="1668363"/>
            <a:ext cx="1097280" cy="12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돌리기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933926" y="1633538"/>
            <a:ext cx="1355824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06852" y="1668363"/>
            <a:ext cx="1097280" cy="12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결과 확인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7280225" y="1633538"/>
            <a:ext cx="1355824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53151" y="1668363"/>
            <a:ext cx="1097280" cy="12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다시 돌리기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507950" y="1819126"/>
            <a:ext cx="1396901" cy="381595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0876" y="1948904"/>
            <a:ext cx="1159332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행동 · 단계에서 하는 일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895326" y="1819126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앱 실행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41477" y="181912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메뉴 4개 직접 입력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87776" y="1819126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휠 돌리기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33926" y="181912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결과를 본다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80225" y="181912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또 돌린다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2191196"/>
            <a:ext cx="1396901" cy="381744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0876" y="2320975"/>
            <a:ext cx="662324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근거 · #번호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895326" y="2191196"/>
            <a:ext cx="1355675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41477" y="2191196"/>
            <a:ext cx="1355824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#1 (유형 ①)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87776" y="2191196"/>
            <a:ext cx="1355675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33926" y="2191196"/>
            <a:ext cx="1355824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#2 (유형 ③)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80225" y="2191196"/>
            <a:ext cx="1355824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#2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950" y="2563416"/>
            <a:ext cx="1396901" cy="381595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0876" y="2693194"/>
            <a:ext cx="578528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· +2 ~ −2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1895326" y="2563416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41477" y="256341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−1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87776" y="2563416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+1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33926" y="256341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−2 ◀ 최저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80225" y="256341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−1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7950" y="2935486"/>
            <a:ext cx="1396901" cy="381744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0876" y="3065264"/>
            <a:ext cx="1027870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기기 · 폰 · 태블릿 · 웹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1895326" y="2935486"/>
            <a:ext cx="1355675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41477" y="2935486"/>
            <a:ext cx="1355824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폰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87776" y="2935486"/>
            <a:ext cx="1355675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폰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33926" y="2935486"/>
            <a:ext cx="1355824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폰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80225" y="2935486"/>
            <a:ext cx="1355824" cy="381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7950" y="3307705"/>
            <a:ext cx="1396901" cy="381595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0876" y="3437483"/>
            <a:ext cx="10331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기회 · 있으면 한 줄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895326" y="3307705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상황 자동 분류(v3)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41477" y="3307705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상황 템플릿 · 사진→옵션(v3)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87776" y="3307705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게임 추천(지금은 preset)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933926" y="3307705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반응으로 선호 찾기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80225" y="3307705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"3번째" 개입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7950" y="3679775"/>
            <a:ext cx="1396901" cy="381595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80876" y="3809554"/>
            <a:ext cx="613746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어긴 원칙 · P__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895326" y="3679775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241477" y="3679775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P06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87776" y="3679775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—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933926" y="3679775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P10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80225" y="3679775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P05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07950" y="4051846"/>
            <a:ext cx="1396901" cy="381595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80876" y="4181624"/>
            <a:ext cx="998268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데이터 · GET 필드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1895326" y="4051846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/items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241477" y="405184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/notes?itemId=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87776" y="4051846"/>
            <a:ext cx="1355675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items.mode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933926" y="405184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notes.pick · reason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280225" y="4051846"/>
            <a:ext cx="1355824" cy="38159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notes 순서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07950" y="4496842"/>
            <a:ext cx="8290661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주황 줄 = 확장 4줄. 감정 곡선 그림을 쓰면 이 장을 복제해 그림을 넣는다(표는 지우지 않는다)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507950" y="4810125"/>
            <a:ext cx="372802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3단계 · 7장 기획 "저니 8"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B5-2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B5-3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B5-3 — 기획 상세: 피쉬본 · 5 Why 전체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받아들이고 멈추는 단계가 없다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117102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피쉬본 — 여섯 시각의 원인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732211" y="1138386"/>
            <a:ext cx="110058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머리 = 저니 감정 최저점 문제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07950" y="1290786"/>
            <a:ext cx="8889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0876" y="1325612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387376" y="1290786"/>
            <a:ext cx="3438823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60302" y="1325612"/>
            <a:ext cx="97094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 (리뷰 # · 저니 단계)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507950" y="1476375"/>
            <a:ext cx="888950" cy="534442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0876" y="1682502"/>
            <a:ext cx="408355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UX</a:t>
            </a:r>
            <a:endParaRPr lang="en-US" sz="740" dirty="0"/>
          </a:p>
        </p:txBody>
      </p:sp>
      <p:sp>
        <p:nvSpPr>
          <p:cNvPr id="15" name="Text 13"/>
          <p:cNvSpPr/>
          <p:nvPr/>
        </p:nvSpPr>
        <p:spPr>
          <a:xfrm>
            <a:off x="1387376" y="1476375"/>
            <a:ext cx="3438823" cy="53444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결과 화면에 "다시 돌리기"만 크게 — 확정 버튼 없음 (저니 4 · 5)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001292"/>
            <a:ext cx="888950" cy="534591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0876" y="2207568"/>
            <a:ext cx="248656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사용성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387376" y="2001292"/>
            <a:ext cx="3438823" cy="534591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옵션을 매번 입력 → 결과 볼 때 이미 지침 (리뷰 #1)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7950" y="2526357"/>
            <a:ext cx="888950" cy="534442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0876" y="2732484"/>
            <a:ext cx="248656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387376" y="2526357"/>
            <a:ext cx="3438823" cy="53444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결과에 이유(왜 이것인지)가 없다 (리뷰 #2)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3051274"/>
            <a:ext cx="888950" cy="534442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0876" y="3257401"/>
            <a:ext cx="15969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1387376" y="3051274"/>
            <a:ext cx="3438823" cy="53444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상황별 옵션 · 이유 데이터를 받지 않음 — 전부 사용자 입력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3576191"/>
            <a:ext cx="888950" cy="534442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0876" y="3782318"/>
            <a:ext cx="33154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387376" y="3576191"/>
            <a:ext cx="3438823" cy="53444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오프라인 앱 — 기기 간 가져오기 실패 (Android · iOS 차이, 리뷰 #1)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950" y="4101108"/>
            <a:ext cx="888950" cy="534442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80876" y="4307235"/>
            <a:ext cx="33154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1387376" y="4101108"/>
            <a:ext cx="3438823" cy="53444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결정 과정이 "돌리기" 1단계뿐 — 비교 · 제거 · 확인 없음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53149" y="1128861"/>
            <a:ext cx="375655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1개 — 고른 이유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953149" y="1290786"/>
            <a:ext cx="3682901" cy="38100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9525">
            <a:solidFill>
              <a:srgbClr val="D97706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모바일 UX — 리뷰 유형 ③과 저니 최저점이 같은 곳을 가리키고, 데이터 없이 UI만으로 고칠 수 있다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3149" y="1735187"/>
            <a:ext cx="37565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4953149" y="1887587"/>
            <a:ext cx="507950" cy="42579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26075" y="2039392"/>
            <a:ext cx="282205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5451574" y="1887587"/>
            <a:ext cx="3184475" cy="42579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왜 다시 돌리나? → 결과가 마음에 안 들어서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953149" y="2303859"/>
            <a:ext cx="507950" cy="42579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26075" y="2455664"/>
            <a:ext cx="282205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451574" y="2303859"/>
            <a:ext cx="3184475" cy="42579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왜 마음에 안 드나? → "그냥 랜덤"이라 내 선택 같지 않아서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53149" y="2720132"/>
            <a:ext cx="507950" cy="42579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26075" y="2871936"/>
            <a:ext cx="282205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5451574" y="2720132"/>
            <a:ext cx="3184475" cy="42579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왜 내 선택 같지 않나? → 결정에 참여한 단계(비교 · 제거 · 반응)가 없어서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953149" y="3136404"/>
            <a:ext cx="507950" cy="42579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026075" y="3288209"/>
            <a:ext cx="282205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5451574" y="3136404"/>
            <a:ext cx="3184475" cy="42579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왜 그 단계가 없나? → 결과를 "내는 것"만 목표로 설계해서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53149" y="3552676"/>
            <a:ext cx="507950" cy="42579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026075" y="3704481"/>
            <a:ext cx="282205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5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451574" y="3552676"/>
            <a:ext cx="3184475" cy="42579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왜? → 선택장애의 문제를 "선택지 부족"으로 보고 "받아들이는 허락"으로 보지 않아서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953149" y="4041874"/>
            <a:ext cx="375655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 → v2에서 고칠 것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4953149" y="4203799"/>
            <a:ext cx="3682901" cy="431750"/>
          </a:xfrm>
          <a:prstGeom prst="roundRect">
            <a:avLst>
              <a:gd name="adj" fmla="val 11766"/>
            </a:avLst>
          </a:prstGeom>
          <a:solidFill>
            <a:srgbClr val="EAF1FD"/>
          </a:solidFill>
          <a:ln w="9525">
            <a:solidFill>
              <a:srgbClr val="2F6FE4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결과를 받아들이고 멈추는 단계가 없다 → C-6 후회 테스트(P06) · C-5 카피(P02) · C-7 잠금(P03) · C-8 STOP(P05)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7950" y="4810125"/>
            <a:ext cx="413182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4단계 · 7장 기획 "피쉬본 · 5 Why 5"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B5-3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B5-4 · 화면마다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B5-4 — 기획 상세: 화면별 요소 분석표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54864" tIns="36576" rIns="54864" bIns="27432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sz="1900" b="0">
                <a:solidFill>
                  <a:srgbClr val="16202E"/>
                </a:solidFill>
                <a:latin typeface="Arial"/>
              </a:rPr>
              <a:t>요소 분석: 화면 A — 무슨 결정?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1777901" cy="317658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4356199"/>
            <a:ext cx="177790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파일 · lib/screens/a_list_screen.dart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87352" y="1128861"/>
            <a:ext cx="3555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60278" y="1166366"/>
            <a:ext cx="15696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33377" y="1128861"/>
            <a:ext cx="8127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06303" y="1166366"/>
            <a:ext cx="54239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위젯명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36603" y="1128861"/>
            <a:ext cx="8127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09529" y="1166366"/>
            <a:ext cx="49564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명칭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339828" y="1128861"/>
            <a:ext cx="1233636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12754" y="1166366"/>
            <a:ext cx="52084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전달 기준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63939" y="1128861"/>
            <a:ext cx="406301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36865" y="1166366"/>
            <a:ext cx="21738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P번호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60715" y="1128861"/>
            <a:ext cx="1233636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33641" y="1166366"/>
            <a:ext cx="23529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편의성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84827" y="1128861"/>
            <a:ext cx="1451223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57752" y="1166366"/>
            <a:ext cx="33882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 글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87352" y="1309836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60278" y="1344662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33377" y="1309836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AppBar(_Brand) + 큰 제목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36603" y="1309836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무슨 결정? 제목줄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39828" y="1309836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브랜드 → 34px 질문 → 한 줄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63939" y="1309836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36865" y="1344662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60715" y="1309836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무슨 화면인지 읽지 않아도 안다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84827" y="1309836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첫 질문을 친근하게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387352" y="1783556"/>
            <a:ext cx="355550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60278" y="1818382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733377" y="1783556"/>
            <a:ext cx="812750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LoadingView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36603" y="1783556"/>
            <a:ext cx="812750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고민 불러오는 중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39828" y="1783556"/>
            <a:ext cx="1233636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스피너 + 문장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63939" y="1783556"/>
            <a:ext cx="406301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36865" y="1818382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960715" y="1783556"/>
            <a:ext cx="1233636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멈췄는지 의심 안 함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84827" y="1783556"/>
            <a:ext cx="1451223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화면이 살아 있음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87352" y="225742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460278" y="229225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33377" y="225742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ErrorView + FilledButton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536603" y="225742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오류 안내 · 다시 시도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39828" y="225742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무엇이 · 왜 · 버튼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63939" y="225742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36865" y="229225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P09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960715" y="225742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앱을 껐다 켜지 않음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184827" y="225742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한 번에 다시 시도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387352" y="273114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460278" y="276597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A-4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733377" y="273114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EmptyView + 새로고침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536603" y="273114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빈 목록 안내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39828" y="273114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이모지 → 이유 → 행동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563939" y="273114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636865" y="276597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960715" y="273114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빈 화면에서 안 헤맴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184827" y="273114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이유와 다음 행동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387352" y="320486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460278" y="323969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A-5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733377" y="320486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LayoutBuilder → ListView / GridView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536603" y="320486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결정 상황 목록 · 격자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39828" y="320486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&lt;600 목록 · ≥600 격자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63939" y="320486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636865" y="323969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P07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960715" y="320486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넓은 화면 스크롤 감소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184827" y="320486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창 너비로만 분기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387352" y="367858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460278" y="371341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A-6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733377" y="367858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SituationCard(RoundCard)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536603" y="367858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결정 상황 카드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339828" y="367858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이모지 → 제목 → 설명 → 칩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563939" y="367858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636865" y="371341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960715" y="367858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옵션 입력 0번 (탭 1)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184827" y="367858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카드 전체가 버튼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387352" y="415230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460278" y="4187130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A-7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733377" y="415230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SoftChip(dot)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3536603" y="415230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카테고리 칩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339828" y="415230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카테고리 색 점 7px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563939" y="415230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636865" y="4187130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960715" y="415230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색으로 종류 구분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184827" y="415230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같은 카테고리 = 같은 색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7장 기획 "요소 분석 · 기준 · 가이드 글 8"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B5-4</a:t>
            </a:r>
            <a:endParaRPr lang="en-US" sz="680" dirty="0"/>
          </a:p>
        </p:txBody>
      </p:sp>
      <p:pic>
        <p:nvPicPr>
          <p:cNvPr id="96" name="Picture 95" descr="01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74" y="1165437"/>
            <a:ext cx="1434052" cy="31034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B5-5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B5-5 — 기획 상세: 상태관리 포인트 (표시만)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상태관리 포인트: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기록 · 친구 표는 v3, 지금은 표시만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3810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0876" y="1163687"/>
            <a:ext cx="54801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879425" y="1128861"/>
            <a:ext cx="9906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2351" y="1163687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860500" y="1128861"/>
            <a:ext cx="176004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33426" y="1163687"/>
            <a:ext cx="538148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바뀌는 데이터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611017" y="1128861"/>
            <a:ext cx="176004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83943" y="1163687"/>
            <a:ext cx="999027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바뀌나 (사용자 행동)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5361533" y="1128861"/>
            <a:ext cx="176004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34459" y="1163687"/>
            <a:ext cx="913864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보여질 위젯 (요소 번호)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7112050" y="1128861"/>
            <a:ext cx="15240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84975" y="1163687"/>
            <a:ext cx="10157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표시 위치 // STATE: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507950" y="1314450"/>
            <a:ext cx="381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0876" y="1349276"/>
            <a:ext cx="11096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79425" y="1314450"/>
            <a:ext cx="9906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60500" y="1314450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검색어 · 카테고리 필터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11017" y="1314450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검색창 입력 (v3)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61533" y="1314450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A-5 목록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12050" y="1314450"/>
            <a:ext cx="1524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a_list_screen.dart // STATE: S1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1832670"/>
            <a:ext cx="381000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0876" y="1867495"/>
            <a:ext cx="11096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79425" y="1832670"/>
            <a:ext cx="990600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60500" y="1832670"/>
            <a:ext cx="1760041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지금 기분 · 고른 게임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11017" y="1832670"/>
            <a:ext cx="1760041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세그먼트 · 게임 카드 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61533" y="1832670"/>
            <a:ext cx="1760041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B-2 · B-6 · B-8 요약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12050" y="1832670"/>
            <a:ext cx="1524000" cy="527893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화면 안 setState만 (인자로 C 전달)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950" y="2351038"/>
            <a:ext cx="381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0876" y="2385864"/>
            <a:ext cx="11096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79425" y="2351038"/>
            <a:ext cx="9906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C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60500" y="2351038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결정 잠금 여부 · 결과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11017" y="2351038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결정 잠금 탭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61533" y="2351038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(v3) 결정 일기 목록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12050" y="2351038"/>
            <a:ext cx="1524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c_result_sheet.dart // STATE: S3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7950" y="2869257"/>
            <a:ext cx="381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0876" y="2904083"/>
            <a:ext cx="11096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79425" y="2869257"/>
            <a:ext cx="9906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C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860500" y="2869257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결과 만족도 😍 😐 😭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11017" y="2869257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몇 시간 뒤 알림 (v3)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61533" y="2869257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(v3) 내 결정 스타일 카드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112050" y="2869257"/>
            <a:ext cx="1524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c_result_sheet.dart // STATE: S4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07950" y="3387477"/>
            <a:ext cx="381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80876" y="3422303"/>
            <a:ext cx="11096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79425" y="3387477"/>
            <a:ext cx="9906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B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860500" y="3387477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친구 표 실시간 모으기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611017" y="3387477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친구가 단톡방 링크로 투표 (v3)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61533" y="3387477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B-10 표 아바타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112050" y="3387477"/>
            <a:ext cx="1524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b_detail_screen.dart // STATE: S5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7950" y="3905696"/>
            <a:ext cx="381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80876" y="3940522"/>
            <a:ext cx="11096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79425" y="3905696"/>
            <a:ext cx="9906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A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860500" y="3905696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결정 지갑 새 카드 · 인증 사진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611017" y="3905696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C에서 잠금 · 사진 찍기 (v3)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61533" y="3905696"/>
            <a:ext cx="1760041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A-10 결정 지갑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112050" y="3905696"/>
            <a:ext cx="1524000" cy="5277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00" b="0">
                <a:solidFill>
                  <a:srgbClr val="16202E"/>
                </a:solidFill>
                <a:latin typeface="Arial"/>
              </a:rPr>
              <a:t>a_list_screen.dart // STATE: S6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07950" y="4496842"/>
            <a:ext cx="8290661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구현하지 않는 것: Provider · Riverpod · Bloc 등 상태관리 구현, 영구 저장 (안내문 5장 감점) — 이 표는 13주 상태관리 수업에서 구현 목록이 된다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507950" y="4810125"/>
            <a:ext cx="505312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5장 감점(상태관리 구현) · 7장 기획 "상태관리 포인트 4"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B5-5</a:t>
            </a:r>
            <a:endParaRPr lang="en-US" sz="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· UI 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Flutter 기술을 활용한 기능 설명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26852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기술: </a:t>
            </a: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이동 · 3상태 · GET · 적응형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193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401" y="1166961"/>
            <a:ext cx="649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3501" y="1171724"/>
            <a:ext cx="1828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이동 · 위젯 트리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07950" y="1386036"/>
            <a:ext cx="2641699" cy="3249513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Navigator.push (A→B 쌓기)</a:t>
            </a:r>
            <a:endParaRPr lang="en-US" sz="1000" dirty="0"/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TabBar (B 옵션 | 결정 방식, 옆으로)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showModalBottomSheet (B→C 덮기)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/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A: Scaffold → AppBar(_Brand) → FutureBuilder → LayoutBuilder → ListView/GridView → SituationCard(RoundCard · EmojiTile · SoftChip)</a:t>
            </a:r>
          </a:p>
        </p:txBody>
      </p:sp>
      <p:sp>
        <p:nvSpPr>
          <p:cNvPr id="12" name="Text 10"/>
          <p:cNvSpPr/>
          <p:nvPr/>
        </p:nvSpPr>
        <p:spPr>
          <a:xfrm>
            <a:off x="3251150" y="11193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33601" y="1166961"/>
            <a:ext cx="649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06701" y="1171724"/>
            <a:ext cx="1828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· FutureBuilder 3상태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3251150" y="1386036"/>
            <a:ext cx="2641699" cy="3249513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lib/api.dart — http.get만</a:t>
            </a:r>
            <a:endParaRPr lang="en-US" sz="1000" dirty="0"/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fetchItems() → GET /items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fetchNotes(id) → GET /notes?itemId=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fetchHistory() → GET /history (결정 지갑)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/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FutureBuilder: waiting → LoadingView(P01) · error → ErrorView + 다시 시도(P09) · [] → EmptyView(P01)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--dart-define=DEMO_STATE=loading | error | empty</a:t>
            </a:r>
          </a:p>
        </p:txBody>
      </p:sp>
      <p:sp>
        <p:nvSpPr>
          <p:cNvPr id="17" name="Text 15"/>
          <p:cNvSpPr/>
          <p:nvPr/>
        </p:nvSpPr>
        <p:spPr>
          <a:xfrm>
            <a:off x="5994350" y="111933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76801" y="1166961"/>
            <a:ext cx="649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901" y="1171724"/>
            <a:ext cx="1828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적응형 · setState · // P0x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5994350" y="1386036"/>
            <a:ext cx="2641699" cy="3249513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LayoutBuilder: 600dp 이상이면 A는 2단(지갑 | 격자), B는 격자 (A-5 · B-5 · B-6)</a:t>
            </a:r>
            <a:endParaRPr lang="en-US" sz="1000" dirty="0"/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AnimatedPositioned: 결정 지갑 카드 펼치기 (A-10)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/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setState만: 기분 · 게임 · 내 ❤️ · ✕ 지우기 · 잠금 · 다시 횟수 (저장 안 함)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/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결과 = db.json pick:true · 다시 = 다음 옵션 (랜덤 · 알고리즘 없음)</a:t>
            </a:r>
          </a:p>
          <a:p>
            <a:r>
              <a:rPr sz="800" b="0">
                <a:solidFill>
                  <a:srgbClr val="16202E"/>
                </a:solidFill>
                <a:latin typeface="Arial"/>
              </a:rPr>
              <a:t>줄 끝 주석 // C-8 P05 = 디자인 가이드 표</a:t>
            </a:r>
          </a:p>
        </p:txBody>
      </p:sp>
      <p:sp>
        <p:nvSpPr>
          <p:cNvPr id="22" name="Text 20"/>
          <p:cNvSpPr/>
          <p:nvPr/>
        </p:nvSpPr>
        <p:spPr>
          <a:xfrm>
            <a:off x="507950" y="4810125"/>
            <a:ext cx="38310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7장 발표 15 · 8장 FAQ(AI 사용)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8546455" y="4810125"/>
            <a:ext cx="913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P0x마다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P0x (고친 원칙마다 1장)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54864" tIns="36576" rIns="54864" bIns="27432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sz="1900" b="0">
                <a:solidFill>
                  <a:srgbClr val="16202E"/>
                </a:solidFill>
                <a:latin typeface="Arial"/>
              </a:rPr>
              <a:t>원칙 카드 P06 — 기억 대신 재인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5511998" cy="3506688"/>
          </a:xfrm>
          <a:prstGeom prst="roundRect">
            <a:avLst>
              <a:gd name="adj" fmla="val 2535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138386"/>
            <a:ext cx="5492948" cy="269677"/>
          </a:xfrm>
          <a:prstGeom prst="rect">
            <a:avLst/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1201787"/>
            <a:ext cx="675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6187" y="1201787"/>
            <a:ext cx="16598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5칸: 원칙 · 근거 · 적용 · 시연 · 판단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7475" y="1412825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7475" y="1417588"/>
            <a:ext cx="863352" cy="634008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663154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0827" y="1417588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16202E"/>
                </a:solidFill>
                <a:latin typeface="Arial"/>
              </a:rPr>
              <a:t>P06 기억 대신 재인 (Recognition rather than recall)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7475" y="2056358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7475" y="2061121"/>
            <a:ext cx="863352" cy="634157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976" y="2306687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0827" y="2061121"/>
            <a:ext cx="4629596" cy="6341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현행: 옵션을 하나씩 직접 입력 — "have to manually input"(★2, 2023-05-28 · 리뷰 #1) · 일괄 입력 요청 다수 (유형 ①)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7475" y="2700040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7475" y="2704802"/>
            <a:ext cx="863352" cy="634008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2950369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80827" y="2704802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A 무슨 결정? · A-6 SituationCard 상황 템플릿 · B-3 TabBar · C-6 후회 테스트 — // A-6 P06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7475" y="3343573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7475" y="3348335"/>
            <a:ext cx="863352" cy="634157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8976" y="3593902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80827" y="3348335"/>
            <a:ext cx="4629596" cy="6341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p06.mp4 — A에서 카드 한 번 → 옵션이 이미 있다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7475" y="3987254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7475" y="3992017"/>
            <a:ext cx="863352" cy="634008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8976" y="4237583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80827" y="3992017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대안 "자유 입력 칸 추가" → 버림: 입력이 바로 현행의 문제 + 기획 외 화면 증가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6899" y="1128861"/>
            <a:ext cx="2489150" cy="172164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46899" y="2913906"/>
            <a:ext cx="2489150" cy="172164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pic>
        <p:nvPicPr>
          <p:cNvPr id="44" name="Picture 43" descr="01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602" y="2950482"/>
            <a:ext cx="761743" cy="1648492"/>
          </a:xfrm>
          <a:prstGeom prst="rect">
            <a:avLst/>
          </a:prstGeom>
        </p:spPr>
      </p:pic>
      <p:pic>
        <p:nvPicPr>
          <p:cNvPr id="45" name="Picture 44" descr="v1_re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136" y="1165437"/>
            <a:ext cx="1904676" cy="16484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P0x마다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P0x (고친 원칙마다 1장)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54864" tIns="36576" rIns="54864" bIns="27432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sz="1900" b="0">
                <a:solidFill>
                  <a:srgbClr val="16202E"/>
                </a:solidFill>
                <a:latin typeface="Arial"/>
              </a:rPr>
              <a:t>원칙 카드 P07 — 유연성과 효율성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5511998" cy="3506688"/>
          </a:xfrm>
          <a:prstGeom prst="roundRect">
            <a:avLst>
              <a:gd name="adj" fmla="val 2535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138386"/>
            <a:ext cx="5492948" cy="269677"/>
          </a:xfrm>
          <a:prstGeom prst="rect">
            <a:avLst/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1201787"/>
            <a:ext cx="675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56187" y="1201787"/>
            <a:ext cx="16598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5칸: 원칙 · 근거 · 적용 · 시연 · 판단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7475" y="1412825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7475" y="1417588"/>
            <a:ext cx="863352" cy="634008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663154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0827" y="1417588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50" b="1">
                <a:solidFill>
                  <a:srgbClr val="16202E"/>
                </a:solidFill>
                <a:latin typeface="Arial"/>
              </a:rPr>
              <a:t>P07 유연성 · 효율성 (Flexibility and efficiency)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7475" y="2056358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7475" y="2061121"/>
            <a:ext cx="863352" cy="634157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976" y="2306687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0827" y="2061121"/>
            <a:ext cx="4629596" cy="6341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현행: 휠 목록 → 휠 고르기 → 라벨 입력 → 돌리기 → 재시도 = 7탭 이상 (v1 휠 목록 화면)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7475" y="2700040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7475" y="2704802"/>
            <a:ext cx="863352" cy="634008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2950369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80827" y="2704802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B 고민 상세 · B-6 GameCard 상황별 추천 게임 미리 선택 · A-5 / B-5 LayoutBuilder 600dp — // B-6 P07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7475" y="3343573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17475" y="3348335"/>
            <a:ext cx="863352" cy="634157"/>
          </a:xfrm>
          <a:prstGeom prst="rect">
            <a:avLst/>
          </a:prstGeom>
          <a:solidFill>
            <a:srgbClr val="EAF1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8976" y="3593902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80827" y="3348335"/>
            <a:ext cx="4629596" cy="6341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p07.mp4 — A 카드 → 골라줘! → 결정 잠금 = 3탭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7475" y="3987254"/>
            <a:ext cx="549294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7475" y="3992017"/>
            <a:ext cx="863352" cy="634008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8976" y="4237583"/>
            <a:ext cx="2017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80827" y="3992017"/>
            <a:ext cx="4629596" cy="634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800" b="0">
                <a:solidFill>
                  <a:srgbClr val="16202E"/>
                </a:solidFill>
                <a:latin typeface="Arial"/>
              </a:rPr>
              <a:t>대안 "게임을 매번 고르게" → 버림: 탭 수 증가. 추천은 db.json preset (계산 없음)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46899" y="1128861"/>
            <a:ext cx="2489150" cy="172164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46899" y="2913906"/>
            <a:ext cx="2489150" cy="1721644"/>
          </a:xfrm>
          <a:prstGeom prst="roundRect">
            <a:avLst>
              <a:gd name="adj" fmla="val 4426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680" dirty="0"/>
          </a:p>
        </p:txBody>
      </p:sp>
      <p:pic>
        <p:nvPicPr>
          <p:cNvPr id="44" name="Picture 43" descr="03_B_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602" y="2950482"/>
            <a:ext cx="761743" cy="1648492"/>
          </a:xfrm>
          <a:prstGeom prst="rect">
            <a:avLst/>
          </a:prstGeom>
        </p:spPr>
      </p:pic>
      <p:pic>
        <p:nvPicPr>
          <p:cNvPr id="45" name="Picture 44" descr="v1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348" y="1165437"/>
            <a:ext cx="760251" cy="16484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B5-4 · 화면마다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B5-4 — 기획 상세: 화면별 요소 분석표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square" lIns="54864" tIns="36576" rIns="54864" bIns="27432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sz="1900" b="0">
                <a:solidFill>
                  <a:srgbClr val="16202E"/>
                </a:solidFill>
                <a:latin typeface="Arial"/>
              </a:rPr>
              <a:t>요소 분석: 화면 C — 결과 시트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1777901" cy="317658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4356199"/>
            <a:ext cx="177790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750" b="0">
                <a:solidFill>
                  <a:srgbClr val="16202E"/>
                </a:solidFill>
                <a:latin typeface="Arial"/>
              </a:rPr>
              <a:t>화면 파일 · lib/screens/c_result_sheet.dart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87352" y="1128861"/>
            <a:ext cx="3555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60278" y="1166366"/>
            <a:ext cx="15696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33377" y="1128861"/>
            <a:ext cx="8127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806303" y="1166366"/>
            <a:ext cx="54239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위젯명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536603" y="1128861"/>
            <a:ext cx="812750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09529" y="1166366"/>
            <a:ext cx="49564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명칭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339828" y="1128861"/>
            <a:ext cx="1233636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12754" y="1166366"/>
            <a:ext cx="52084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전달 기준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63939" y="1128861"/>
            <a:ext cx="406301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36865" y="1166366"/>
            <a:ext cx="21738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P번호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60715" y="1128861"/>
            <a:ext cx="1233636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33641" y="1166366"/>
            <a:ext cx="23529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편의성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84827" y="1128861"/>
            <a:ext cx="1451223" cy="190500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57752" y="1166366"/>
            <a:ext cx="33882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 글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87352" y="1309836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60278" y="1344662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33377" y="1309836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showModalBottomSheet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36603" y="1309836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결과 시트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39828" y="1309836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B 위에 덮기 · 손잡이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63939" y="1309836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36865" y="1344662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60715" y="1309836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끌어내리면 닫힘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84827" y="1309836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B 맥락 유지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387352" y="1783556"/>
            <a:ext cx="355550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60278" y="1818382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733377" y="1783556"/>
            <a:ext cx="812750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_StepBar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36603" y="1783556"/>
            <a:ext cx="812750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결정 단계 표시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39828" y="1783556"/>
            <a:ext cx="1233636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FEEL · FIGHT · REVEAL 채움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63939" y="1783556"/>
            <a:ext cx="406301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36865" y="1818382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960715" y="1783556"/>
            <a:ext cx="1233636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남은 단계 = LOCK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84827" y="1783556"/>
            <a:ext cx="1451223" cy="48339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잠그면 LOCK 채움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87352" y="225742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460278" y="229225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733377" y="225742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Text(알약)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536603" y="225742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마지막 대결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39828" y="225742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게임명 결승 · A vs B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563939" y="225742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36865" y="229225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960715" y="225742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승자로 느껴짐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184827" y="225742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게임 이름 그대로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387352" y="273114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460278" y="276597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C-4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733377" y="273114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RoundCard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536603" y="273114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골라준 옵션 + 이유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339828" y="273114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이모지 → 이름 36px → 이유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563939" y="273114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636865" y="276597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P08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960715" y="273114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결과 하나에 집중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184827" y="273114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이유는 미리 쓴 한 줄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387352" y="320486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460278" y="323969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C-6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733377" y="320486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OutlinedButton × 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536603" y="320486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아쉬웠어? 반응 테스트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339828" y="320486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질문 → 😐 / 😭 → 답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63939" y="320486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636865" y="323969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P06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960715" y="320486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반응으로 선호 앎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184827" y="320486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미리 쓴 답 2개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387352" y="367858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460278" y="3713411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C-7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733377" y="367858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FilledButton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536603" y="367858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결정 잠금 / 해제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339828" y="367858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왼쪽 큰 코랄 버튼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563939" y="367858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636865" y="3713411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960715" y="367858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탭 3으로 끝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184827" y="367858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해제 가능 · 저장 안 함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387352" y="4152305"/>
            <a:ext cx="3555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460278" y="4187130"/>
            <a:ext cx="27432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C-8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733377" y="415230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OutlinedButton + 배너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3536603" y="4152305"/>
            <a:ext cx="812750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다시 · 그만 고민 배너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339828" y="415230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3번째부터 배너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563939" y="4152305"/>
            <a:ext cx="406301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636865" y="4187130"/>
            <a:ext cx="16136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dirty="0" b="1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P05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960715" y="4152305"/>
            <a:ext cx="1233636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무한 비교 차단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184827" y="4152305"/>
            <a:ext cx="1451223" cy="48324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54864" tIns="36576" rIns="54864" bIns="27432" rtlCol="0" anchor="t"/>
          <a:lstStyle/>
          <a:p>
            <a:pPr marL="0" indent="0" algn="l">
              <a:buNone/>
            </a:pPr>
            <a:r>
              <a:rPr sz="650" b="0">
                <a:solidFill>
                  <a:srgbClr val="16202E"/>
                </a:solidFill>
                <a:latin typeface="Arial"/>
              </a:rPr>
              <a:t>다시 = 다음 옵션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7장 기획 "요소 분석 · 기준 · 가이드 글 8"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B5-4C</a:t>
            </a:r>
            <a:endParaRPr lang="en-US" sz="680" dirty="0"/>
          </a:p>
        </p:txBody>
      </p:sp>
      <p:pic>
        <p:nvPicPr>
          <p:cNvPr id="96" name="Picture 95" descr="05_C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74" y="1165437"/>
            <a:ext cx="1434052" cy="31034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8628</Words>
  <Application>Microsoft Macintosh PowerPoint</Application>
  <PresentationFormat>화면 슬라이드 쇼(16:9)</PresentationFormat>
  <Paragraphs>1003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GAI3008-01 중간고사 발표 양식 (2026-2학기)</dc:title>
  <dc:subject>PptxGenJS Presentation</dc:subject>
  <dc:creator>홍승우 겸임교수</dc:creator>
  <cp:lastModifiedBy>Seungwoo Hong</cp:lastModifiedBy>
  <cp:revision>3</cp:revision>
  <dcterms:created xsi:type="dcterms:W3CDTF">2026-10-15T06:26:30Z</dcterms:created>
  <dcterms:modified xsi:type="dcterms:W3CDTF">2026-10-15T08:36:17Z</dcterms:modified>
</cp:coreProperties>
</file>